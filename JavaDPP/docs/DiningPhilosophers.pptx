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5" r:id="rId10"/>
    <p:sldId id="264" r:id="rId11"/>
    <p:sldId id="267"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70" d="100"/>
          <a:sy n="170" d="100"/>
        </p:scale>
        <p:origin x="156" y="4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19123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28681-922C-5438-6E52-732BF0A99D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CAF39-CB4C-CCBB-60D1-8A2B1F550C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204749-B18C-8983-1D4E-777490027E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FA0BC9-7BE8-02A0-C4CB-9EFA138F1F9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220263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hyperlink" Target="https://diningphilosophers.eu/" TargetMode="External"/><Relationship Id="rId3" Type="http://schemas.openxmlformats.org/officeDocument/2006/relationships/hyperlink" Target="https://en.wikipedia.org/wiki/Dining_philosophers_problem" TargetMode="External"/><Relationship Id="rId7" Type="http://schemas.openxmlformats.org/officeDocument/2006/relationships/hyperlink" Target="https://doi.org/10.1145/1780.1804"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harrymoreno.com/assets/greatPapersInCompSci/5.1_-_Cooperating_sequential_processes-Edsger_W._Dijkstra.pdf" TargetMode="External"/><Relationship Id="rId11" Type="http://schemas.openxmlformats.org/officeDocument/2006/relationships/hyperlink" Target="https://os.ecci.ucr.ac.cr/slides/Abraham-Silberschatz-Operating-System-Concepts-10th-2018.pdf" TargetMode="External"/><Relationship Id="rId5" Type="http://schemas.openxmlformats.org/officeDocument/2006/relationships/hyperlink" Target="https://www.cs.utexas.edu/~EWD/ewd03xx/EWD310.PDF" TargetMode="External"/><Relationship Id="rId10" Type="http://schemas.openxmlformats.org/officeDocument/2006/relationships/hyperlink" Target="https://www.cse.wustl.edu/~jain/atmf/ftp/af_fair.pdf" TargetMode="External"/><Relationship Id="rId4" Type="http://schemas.openxmlformats.org/officeDocument/2006/relationships/hyperlink" Target="https://doi.org/10.1145/359576.359585" TargetMode="External"/><Relationship Id="rId9" Type="http://schemas.openxmlformats.org/officeDocument/2006/relationships/hyperlink" Target="https://os.ecci.ucr.ac.cr/slides/Andrew-S.-Tanenbaum-Modern-Operating-Systems.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3C"/>
        </a:solidFill>
        <a:effectLst/>
      </p:bgPr>
    </p:bg>
    <p:spTree>
      <p:nvGrpSpPr>
        <p:cNvPr id="1" name=""/>
        <p:cNvGrpSpPr/>
        <p:nvPr/>
      </p:nvGrpSpPr>
      <p:grpSpPr>
        <a:xfrm>
          <a:off x="0" y="0"/>
          <a:ext cx="0" cy="0"/>
          <a:chOff x="0" y="0"/>
          <a:chExt cx="0" cy="0"/>
        </a:xfrm>
      </p:grpSpPr>
      <p:sp>
        <p:nvSpPr>
          <p:cNvPr id="2" name="Shape 0"/>
          <p:cNvSpPr/>
          <p:nvPr/>
        </p:nvSpPr>
        <p:spPr>
          <a:xfrm>
            <a:off x="0" y="0"/>
            <a:ext cx="4114800" cy="4114800"/>
          </a:xfrm>
          <a:prstGeom prst="ellipse">
            <a:avLst/>
          </a:prstGeom>
          <a:solidFill>
            <a:srgbClr val="1E2761">
              <a:alpha val="55000"/>
            </a:srgbClr>
          </a:solidFill>
          <a:ln w="12700">
            <a:solidFill>
              <a:srgbClr val="1E2761">
                <a:alpha val="55000"/>
              </a:srgbClr>
            </a:solidFill>
            <a:prstDash val="solid"/>
          </a:ln>
        </p:spPr>
        <p:txBody>
          <a:bodyPr/>
          <a:lstStyle/>
          <a:p>
            <a:endParaRPr lang="en-US"/>
          </a:p>
        </p:txBody>
      </p:sp>
      <p:sp>
        <p:nvSpPr>
          <p:cNvPr id="3" name="Shape 1"/>
          <p:cNvSpPr/>
          <p:nvPr/>
        </p:nvSpPr>
        <p:spPr>
          <a:xfrm>
            <a:off x="5486400" y="1485900"/>
            <a:ext cx="3657600" cy="3657600"/>
          </a:xfrm>
          <a:prstGeom prst="ellipse">
            <a:avLst/>
          </a:prstGeom>
          <a:solidFill>
            <a:srgbClr val="1C3577">
              <a:alpha val="45000"/>
            </a:srgbClr>
          </a:solidFill>
          <a:ln w="12700">
            <a:solidFill>
              <a:srgbClr val="1C3577">
                <a:alpha val="45000"/>
              </a:srgbClr>
            </a:solidFill>
            <a:prstDash val="solid"/>
          </a:ln>
        </p:spPr>
        <p:txBody>
          <a:bodyPr/>
          <a:lstStyle/>
          <a:p>
            <a:endParaRPr lang="en-US"/>
          </a:p>
        </p:txBody>
      </p:sp>
      <p:sp>
        <p:nvSpPr>
          <p:cNvPr id="4" name="Shape 2"/>
          <p:cNvSpPr/>
          <p:nvPr/>
        </p:nvSpPr>
        <p:spPr>
          <a:xfrm>
            <a:off x="658368" y="2487168"/>
            <a:ext cx="2926080" cy="0"/>
          </a:xfrm>
          <a:prstGeom prst="line">
            <a:avLst/>
          </a:prstGeom>
          <a:noFill/>
          <a:ln w="38100">
            <a:solidFill>
              <a:srgbClr val="0D9488"/>
            </a:solidFill>
            <a:prstDash val="solid"/>
          </a:ln>
        </p:spPr>
        <p:txBody>
          <a:bodyPr/>
          <a:lstStyle/>
          <a:p>
            <a:endParaRPr lang="en-US"/>
          </a:p>
        </p:txBody>
      </p:sp>
      <p:sp>
        <p:nvSpPr>
          <p:cNvPr id="5" name="Text 3"/>
          <p:cNvSpPr/>
          <p:nvPr/>
        </p:nvSpPr>
        <p:spPr>
          <a:xfrm>
            <a:off x="658368" y="1234440"/>
            <a:ext cx="7863840" cy="1005840"/>
          </a:xfrm>
          <a:prstGeom prst="rect">
            <a:avLst/>
          </a:prstGeom>
          <a:noFill/>
          <a:ln/>
        </p:spPr>
        <p:txBody>
          <a:bodyPr wrap="square" lIns="0" tIns="0" rIns="0" bIns="0" rtlCol="0" anchor="b"/>
          <a:lstStyle/>
          <a:p>
            <a:pPr marL="0" indent="0">
              <a:buNone/>
            </a:pPr>
            <a:r>
              <a:rPr lang="en-US" sz="3800" b="1" dirty="0">
                <a:solidFill>
                  <a:srgbClr val="FFFFFF"/>
                </a:solidFill>
                <a:latin typeface="Calibri" pitchFamily="34" charset="0"/>
                <a:ea typeface="Calibri" pitchFamily="34" charset="-122"/>
                <a:cs typeface="Calibri" pitchFamily="34" charset="-120"/>
              </a:rPr>
              <a:t>Dining Philosophers Problem</a:t>
            </a:r>
            <a:endParaRPr lang="en-US" sz="3800" dirty="0"/>
          </a:p>
        </p:txBody>
      </p:sp>
      <p:sp>
        <p:nvSpPr>
          <p:cNvPr id="6" name="Text 4"/>
          <p:cNvSpPr/>
          <p:nvPr/>
        </p:nvSpPr>
        <p:spPr>
          <a:xfrm>
            <a:off x="658368" y="2514600"/>
            <a:ext cx="7863840" cy="594360"/>
          </a:xfrm>
          <a:prstGeom prst="rect">
            <a:avLst/>
          </a:prstGeom>
          <a:noFill/>
          <a:ln/>
        </p:spPr>
        <p:txBody>
          <a:bodyPr wrap="square" lIns="0" tIns="0" rIns="0" bIns="0" rtlCol="0" anchor="t"/>
          <a:lstStyle/>
          <a:p>
            <a:pPr marL="0" indent="0">
              <a:buNone/>
            </a:pPr>
            <a:r>
              <a:rPr lang="en-US" sz="2200" dirty="0">
                <a:solidFill>
                  <a:srgbClr val="CADCFC"/>
                </a:solidFill>
                <a:latin typeface="Calibri" pitchFamily="34" charset="0"/>
                <a:ea typeface="Calibri" pitchFamily="34" charset="-122"/>
                <a:cs typeface="Calibri" pitchFamily="34" charset="-120"/>
              </a:rPr>
              <a:t>Four Concurrency Solutions in Java</a:t>
            </a:r>
            <a:endParaRPr lang="en-US" sz="2200" dirty="0"/>
          </a:p>
        </p:txBody>
      </p:sp>
      <p:sp>
        <p:nvSpPr>
          <p:cNvPr id="7" name="Text 5"/>
          <p:cNvSpPr/>
          <p:nvPr/>
        </p:nvSpPr>
        <p:spPr>
          <a:xfrm>
            <a:off x="658368" y="4434840"/>
            <a:ext cx="7863840" cy="347472"/>
          </a:xfrm>
          <a:prstGeom prst="rect">
            <a:avLst/>
          </a:prstGeom>
          <a:noFill/>
          <a:ln/>
        </p:spPr>
        <p:txBody>
          <a:bodyPr wrap="square" lIns="0" tIns="0" rIns="0" bIns="0" rtlCol="0" anchor="ctr"/>
          <a:lstStyle/>
          <a:p>
            <a:pPr marL="0" indent="0">
              <a:buNone/>
            </a:pPr>
            <a:r>
              <a:rPr lang="en-US" sz="1300" dirty="0">
                <a:solidFill>
                  <a:srgbClr val="64748B"/>
                </a:solidFill>
                <a:latin typeface="Calibri" pitchFamily="34" charset="0"/>
                <a:ea typeface="Calibri" pitchFamily="34" charset="-122"/>
                <a:cs typeface="Calibri" pitchFamily="34" charset="-120"/>
              </a:rPr>
              <a:t>CPSC 543  ·  Vince Marinelli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The Dining Philosophers Problem</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Originally posed by Dijkstra (1965); reformulated by C.A.R. Hoare — a classic model of resource contention</a:t>
            </a:r>
            <a:endParaRPr lang="en-US" sz="1150" dirty="0"/>
          </a:p>
        </p:txBody>
      </p:sp>
      <p:sp>
        <p:nvSpPr>
          <p:cNvPr id="5" name="Shape 3"/>
          <p:cNvSpPr/>
          <p:nvPr/>
        </p:nvSpPr>
        <p:spPr>
          <a:xfrm>
            <a:off x="274320" y="893619"/>
            <a:ext cx="4846320" cy="1737360"/>
          </a:xfrm>
          <a:prstGeom prst="rect">
            <a:avLst/>
          </a:prstGeom>
          <a:solidFill>
            <a:srgbClr val="1E2761">
              <a:alpha val="10000"/>
            </a:srgbClr>
          </a:solidFill>
          <a:ln w="12700">
            <a:solidFill>
              <a:srgbClr val="CADCFC"/>
            </a:solidFill>
            <a:prstDash val="solid"/>
          </a:ln>
        </p:spPr>
        <p:txBody>
          <a:bodyPr/>
          <a:lstStyle/>
          <a:p>
            <a:endParaRPr lang="en-US"/>
          </a:p>
        </p:txBody>
      </p:sp>
      <p:sp>
        <p:nvSpPr>
          <p:cNvPr id="6" name="Text 4"/>
          <p:cNvSpPr/>
          <p:nvPr/>
        </p:nvSpPr>
        <p:spPr>
          <a:xfrm>
            <a:off x="320040" y="942110"/>
            <a:ext cx="4782312" cy="1654233"/>
          </a:xfrm>
          <a:prstGeom prst="rect">
            <a:avLst/>
          </a:prstGeom>
          <a:noFill/>
          <a:ln/>
        </p:spPr>
        <p:txBody>
          <a:bodyPr wrap="square" lIns="0" tIns="0" rIns="0" bIns="0" rtlCol="0" anchor="t"/>
          <a:lstStyle/>
          <a:p>
            <a:r>
              <a:rPr lang="en-US" sz="900" dirty="0"/>
              <a:t>In ancient times, a wealthy philanthropist endowed a College to accommodate five eminent philosophers. Each philosopher had a room in which he could engage in his professional activity of thinking; there was also a common dining room, furnished with a circular table, surrounded by five chairs, each labelled by the name of the philosopher who was to sit in it. … To the left of each philosopher there was laid a golden fork, and in the </a:t>
            </a:r>
            <a:r>
              <a:rPr lang="en-US" sz="900" dirty="0" err="1"/>
              <a:t>centre</a:t>
            </a:r>
            <a:r>
              <a:rPr lang="en-US" sz="900" dirty="0"/>
              <a:t> stood a large bowl of spaghetti, which was constantly replenished. A philosopher was expected to spend most of his time thinking; but when he felt hungry, he went to the dining room, sat down in his own chair, picked up his own fork on his left, and plunged it into the spaghetti. But such is the tangled nature of spaghetti that a second fork is required to carry it to the mouth. The philosopher therefore had also to pick up the fork on his right. When we was finished he would put down both his forks, get up from his chair, and continue thinking. Of course, a fork can be used by only one philosopher at a time.  If the other philosopher wants it, he just has to wait until the fork is available again.</a:t>
            </a:r>
          </a:p>
          <a:p>
            <a:pPr marL="0" indent="0">
              <a:buNone/>
            </a:pPr>
            <a:endParaRPr lang="en-US" sz="850" dirty="0"/>
          </a:p>
        </p:txBody>
      </p:sp>
      <p:sp>
        <p:nvSpPr>
          <p:cNvPr id="7" name="Text 5"/>
          <p:cNvSpPr/>
          <p:nvPr/>
        </p:nvSpPr>
        <p:spPr>
          <a:xfrm>
            <a:off x="438912" y="2596896"/>
            <a:ext cx="4663440" cy="228600"/>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 C.A.R. Hoare, Communicating Sequential Processes, (1985), pp 55-56 [2]</a:t>
            </a:r>
            <a:endParaRPr lang="en-US" sz="900" dirty="0"/>
          </a:p>
        </p:txBody>
      </p:sp>
      <p:sp>
        <p:nvSpPr>
          <p:cNvPr id="8" name="Text 6"/>
          <p:cNvSpPr/>
          <p:nvPr/>
        </p:nvSpPr>
        <p:spPr>
          <a:xfrm>
            <a:off x="274320" y="2907792"/>
            <a:ext cx="4846320" cy="25603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Core Constraints</a:t>
            </a:r>
            <a:endParaRPr lang="en-US" sz="1300" dirty="0"/>
          </a:p>
        </p:txBody>
      </p:sp>
      <p:sp>
        <p:nvSpPr>
          <p:cNvPr id="9" name="Text 7"/>
          <p:cNvSpPr/>
          <p:nvPr/>
        </p:nvSpPr>
        <p:spPr>
          <a:xfrm>
            <a:off x="274320" y="3182112"/>
            <a:ext cx="4846320" cy="1691640"/>
          </a:xfrm>
          <a:prstGeom prst="rect">
            <a:avLst/>
          </a:prstGeom>
          <a:noFill/>
          <a:ln/>
        </p:spPr>
        <p:txBody>
          <a:bodyPr wrap="square" lIns="0" tIns="0" rIns="0" bIns="0" rtlCol="0" anchor="t"/>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One chopstick between each adjacent pair (5 chopsticks total)</a:t>
            </a:r>
            <a:endParaRPr lang="en-US" sz="1200" dirty="0"/>
          </a:p>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Eating requires both left and right chopstick simultaneously</a:t>
            </a:r>
            <a:endParaRPr lang="en-US" sz="1200" dirty="0"/>
          </a:p>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A chopstick can only be held by one philosopher at a time</a:t>
            </a:r>
            <a:endParaRPr lang="en-US" sz="1200" dirty="0"/>
          </a:p>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Hazards to prevent: Deadlock · Starvation · Livelock · Race Conditions</a:t>
            </a:r>
            <a:endParaRPr lang="en-US" sz="1200" dirty="0"/>
          </a:p>
        </p:txBody>
      </p:sp>
      <p:pic>
        <p:nvPicPr>
          <p:cNvPr id="10" name="Image 0" descr="drawio/images/philosopher-state-machine.drawio.png"/>
          <p:cNvPicPr>
            <a:picLocks noChangeAspect="1"/>
          </p:cNvPicPr>
          <p:nvPr/>
        </p:nvPicPr>
        <p:blipFill>
          <a:blip r:embed="rId3"/>
          <a:srcRect/>
          <a:stretch/>
        </p:blipFill>
        <p:spPr>
          <a:xfrm>
            <a:off x="5257800" y="804672"/>
            <a:ext cx="3566160" cy="41605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Solution 1: Resource Hierarchy (Dijkstra)</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Always acquire the lower-numbered chopstick first — breaks circular wait</a:t>
            </a:r>
            <a:endParaRPr lang="en-US" sz="1150" dirty="0"/>
          </a:p>
        </p:txBody>
      </p:sp>
      <p:pic>
        <p:nvPicPr>
          <p:cNvPr id="5" name="Image 0" descr="drawio/images/activity-resource-hierarchy.png"/>
          <p:cNvPicPr>
            <a:picLocks noChangeAspect="1"/>
          </p:cNvPicPr>
          <p:nvPr/>
        </p:nvPicPr>
        <p:blipFill>
          <a:blip r:embed="rId3"/>
          <a:srcRect/>
          <a:stretch/>
        </p:blipFill>
        <p:spPr>
          <a:xfrm>
            <a:off x="256032" y="868680"/>
            <a:ext cx="3520440" cy="4160520"/>
          </a:xfrm>
          <a:prstGeom prst="rect">
            <a:avLst/>
          </a:prstGeom>
        </p:spPr>
      </p:pic>
      <p:sp>
        <p:nvSpPr>
          <p:cNvPr id="6" name="Shape 3"/>
          <p:cNvSpPr/>
          <p:nvPr/>
        </p:nvSpPr>
        <p:spPr>
          <a:xfrm>
            <a:off x="3931920" y="886968"/>
            <a:ext cx="265176" cy="265176"/>
          </a:xfrm>
          <a:prstGeom prst="ellipse">
            <a:avLst/>
          </a:prstGeom>
          <a:solidFill>
            <a:srgbClr val="1E2761"/>
          </a:solidFill>
          <a:ln w="12700">
            <a:solidFill>
              <a:srgbClr val="1E2761"/>
            </a:solidFill>
            <a:prstDash val="solid"/>
          </a:ln>
        </p:spPr>
        <p:txBody>
          <a:bodyPr/>
          <a:lstStyle/>
          <a:p>
            <a:endParaRPr lang="en-US"/>
          </a:p>
        </p:txBody>
      </p:sp>
      <p:sp>
        <p:nvSpPr>
          <p:cNvPr id="7" name="Text 4"/>
          <p:cNvSpPr/>
          <p:nvPr/>
        </p:nvSpPr>
        <p:spPr>
          <a:xfrm>
            <a:off x="3931920" y="886968"/>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4279392" y="896112"/>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Chopsticks numbered 0 through N-1</a:t>
            </a:r>
            <a:endParaRPr lang="en-US" sz="1150" dirty="0"/>
          </a:p>
        </p:txBody>
      </p:sp>
      <p:sp>
        <p:nvSpPr>
          <p:cNvPr id="9" name="Shape 6"/>
          <p:cNvSpPr/>
          <p:nvPr/>
        </p:nvSpPr>
        <p:spPr>
          <a:xfrm>
            <a:off x="3931920" y="1417320"/>
            <a:ext cx="265176" cy="265176"/>
          </a:xfrm>
          <a:prstGeom prst="ellipse">
            <a:avLst/>
          </a:prstGeom>
          <a:solidFill>
            <a:srgbClr val="1E2761"/>
          </a:solidFill>
          <a:ln w="12700">
            <a:solidFill>
              <a:srgbClr val="1E2761"/>
            </a:solidFill>
            <a:prstDash val="solid"/>
          </a:ln>
        </p:spPr>
        <p:txBody>
          <a:bodyPr/>
          <a:lstStyle/>
          <a:p>
            <a:endParaRPr lang="en-US"/>
          </a:p>
        </p:txBody>
      </p:sp>
      <p:sp>
        <p:nvSpPr>
          <p:cNvPr id="10" name="Text 7"/>
          <p:cNvSpPr/>
          <p:nvPr/>
        </p:nvSpPr>
        <p:spPr>
          <a:xfrm>
            <a:off x="3931920" y="1417320"/>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4279392" y="1426464"/>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Philosopher i acquires min(i, i+1%N) first, then max</a:t>
            </a:r>
            <a:endParaRPr lang="en-US" sz="1150" dirty="0"/>
          </a:p>
        </p:txBody>
      </p:sp>
      <p:sp>
        <p:nvSpPr>
          <p:cNvPr id="12" name="Shape 9"/>
          <p:cNvSpPr/>
          <p:nvPr/>
        </p:nvSpPr>
        <p:spPr>
          <a:xfrm>
            <a:off x="3931920" y="1947672"/>
            <a:ext cx="265176" cy="265176"/>
          </a:xfrm>
          <a:prstGeom prst="ellipse">
            <a:avLst/>
          </a:prstGeom>
          <a:solidFill>
            <a:srgbClr val="1E2761"/>
          </a:solidFill>
          <a:ln w="12700">
            <a:solidFill>
              <a:srgbClr val="1E2761"/>
            </a:solidFill>
            <a:prstDash val="solid"/>
          </a:ln>
        </p:spPr>
        <p:txBody>
          <a:bodyPr/>
          <a:lstStyle/>
          <a:p>
            <a:endParaRPr lang="en-US"/>
          </a:p>
        </p:txBody>
      </p:sp>
      <p:sp>
        <p:nvSpPr>
          <p:cNvPr id="13" name="Text 10"/>
          <p:cNvSpPr/>
          <p:nvPr/>
        </p:nvSpPr>
        <p:spPr>
          <a:xfrm>
            <a:off x="3931920" y="1947672"/>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4279392" y="1956816"/>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No circular-wait possible → no deadlock</a:t>
            </a:r>
            <a:endParaRPr lang="en-US" sz="1150" dirty="0"/>
          </a:p>
        </p:txBody>
      </p:sp>
      <p:sp>
        <p:nvSpPr>
          <p:cNvPr id="15" name="Shape 12"/>
          <p:cNvSpPr/>
          <p:nvPr/>
        </p:nvSpPr>
        <p:spPr>
          <a:xfrm>
            <a:off x="3931920" y="2478024"/>
            <a:ext cx="265176" cy="265176"/>
          </a:xfrm>
          <a:prstGeom prst="ellipse">
            <a:avLst/>
          </a:prstGeom>
          <a:solidFill>
            <a:srgbClr val="1E2761"/>
          </a:solidFill>
          <a:ln w="12700">
            <a:solidFill>
              <a:srgbClr val="1E2761"/>
            </a:solidFill>
            <a:prstDash val="solid"/>
          </a:ln>
        </p:spPr>
        <p:txBody>
          <a:bodyPr/>
          <a:lstStyle/>
          <a:p>
            <a:endParaRPr lang="en-US"/>
          </a:p>
        </p:txBody>
      </p:sp>
      <p:sp>
        <p:nvSpPr>
          <p:cNvPr id="16" name="Text 13"/>
          <p:cNvSpPr/>
          <p:nvPr/>
        </p:nvSpPr>
        <p:spPr>
          <a:xfrm>
            <a:off x="3931920" y="2478024"/>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4279392" y="2487168"/>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Starvation is still possible — no fairness guarantee</a:t>
            </a:r>
            <a:endParaRPr lang="en-US" sz="1150" dirty="0"/>
          </a:p>
        </p:txBody>
      </p:sp>
      <p:sp>
        <p:nvSpPr>
          <p:cNvPr id="18" name="Shape 15"/>
          <p:cNvSpPr/>
          <p:nvPr/>
        </p:nvSpPr>
        <p:spPr>
          <a:xfrm>
            <a:off x="3931920" y="2971800"/>
            <a:ext cx="4892040" cy="384048"/>
          </a:xfrm>
          <a:prstGeom prst="rect">
            <a:avLst/>
          </a:prstGeom>
          <a:solidFill>
            <a:srgbClr val="CADCFC">
              <a:alpha val="75000"/>
            </a:srgbClr>
          </a:solidFill>
          <a:ln w="12700">
            <a:solidFill>
              <a:srgbClr val="1E2761"/>
            </a:solidFill>
            <a:prstDash val="solid"/>
          </a:ln>
        </p:spPr>
        <p:txBody>
          <a:bodyPr/>
          <a:lstStyle/>
          <a:p>
            <a:endParaRPr lang="en-US"/>
          </a:p>
        </p:txBody>
      </p:sp>
      <p:sp>
        <p:nvSpPr>
          <p:cNvPr id="19" name="Text 16"/>
          <p:cNvSpPr/>
          <p:nvPr/>
        </p:nvSpPr>
        <p:spPr>
          <a:xfrm>
            <a:off x="4041648" y="2999232"/>
            <a:ext cx="4663440" cy="329184"/>
          </a:xfrm>
          <a:prstGeom prst="rect">
            <a:avLst/>
          </a:prstGeom>
          <a:noFill/>
          <a:ln/>
        </p:spPr>
        <p:txBody>
          <a:bodyPr wrap="square" lIns="0" tIns="0" rIns="0" bIns="0" rtlCol="0" anchor="ctr"/>
          <a:lstStyle/>
          <a:p>
            <a:pPr marL="0" indent="0">
              <a:buNone/>
            </a:pPr>
            <a:r>
              <a:rPr lang="en-US" sz="950" i="1" dirty="0">
                <a:solidFill>
                  <a:srgbClr val="1E2761"/>
                </a:solidFill>
                <a:latin typeface="Consolas" pitchFamily="34" charset="0"/>
                <a:ea typeface="Consolas" pitchFamily="34" charset="-122"/>
                <a:cs typeface="Consolas" pitchFamily="34" charset="-120"/>
              </a:rPr>
              <a:t>JCIP: @ThreadSafe · lock ordering prevents deadlock (§10.1)</a:t>
            </a:r>
            <a:endParaRPr lang="en-US" sz="950" dirty="0"/>
          </a:p>
        </p:txBody>
      </p:sp>
      <p:sp>
        <p:nvSpPr>
          <p:cNvPr id="20" name="Shape 17"/>
          <p:cNvSpPr/>
          <p:nvPr/>
        </p:nvSpPr>
        <p:spPr>
          <a:xfrm>
            <a:off x="3931920" y="3401568"/>
            <a:ext cx="4892040" cy="1664208"/>
          </a:xfrm>
          <a:prstGeom prst="rect">
            <a:avLst/>
          </a:prstGeom>
          <a:solidFill>
            <a:srgbClr val="1B2638"/>
          </a:solidFill>
          <a:ln w="12700">
            <a:solidFill>
              <a:srgbClr val="2D3F50"/>
            </a:solidFill>
            <a:prstDash val="solid"/>
          </a:ln>
        </p:spPr>
        <p:txBody>
          <a:bodyPr/>
          <a:lstStyle/>
          <a:p>
            <a:endParaRPr lang="en-US"/>
          </a:p>
        </p:txBody>
      </p:sp>
      <p:sp>
        <p:nvSpPr>
          <p:cNvPr id="21" name="Text 18"/>
          <p:cNvSpPr/>
          <p:nvPr/>
        </p:nvSpPr>
        <p:spPr>
          <a:xfrm>
            <a:off x="4050792" y="3493008"/>
            <a:ext cx="4654296" cy="1481328"/>
          </a:xfrm>
          <a:prstGeom prst="rect">
            <a:avLst/>
          </a:prstGeom>
          <a:noFill/>
          <a:ln/>
        </p:spPr>
        <p:txBody>
          <a:bodyPr wrap="square" lIns="0" tIns="0" rIns="0" bIns="0" rtlCol="0" anchor="t"/>
          <a:lstStyle/>
          <a:p>
            <a:pPr marL="0" indent="0">
              <a:buNone/>
            </a:pPr>
            <a:r>
              <a:rPr lang="en-US" sz="800" dirty="0">
                <a:solidFill>
                  <a:srgbClr val="E2E8F0"/>
                </a:solidFill>
                <a:latin typeface="Consolas" pitchFamily="34" charset="0"/>
                <a:ea typeface="Consolas" pitchFamily="34" charset="-122"/>
                <a:cs typeface="Consolas" pitchFamily="34" charset="-120"/>
              </a:rPr>
              <a:t>final Chopstick first  = chopsticks.get(Math.min(id, (id+1) % n));</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final Chopstick second = chopsticks.get(Math.max(id, (id+1) % n));</a:t>
            </a:r>
            <a:endParaRPr lang="en-US" sz="800" dirty="0"/>
          </a:p>
          <a:p>
            <a:pPr marL="0" indent="0">
              <a:buNone/>
            </a:pP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first.acquire();           // lockInterruptibly()</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try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second.acquire();</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try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transitionTo(EATING);</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Thread.sleep(randomSleepMs());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 finally { second.release();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finally { first.release(); }</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Solution 2: Arbitrator / Waiter</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Central Waiter serializes grants via synchronized + wait() / notifyAll()</a:t>
            </a:r>
            <a:endParaRPr lang="en-US" sz="1150" dirty="0"/>
          </a:p>
        </p:txBody>
      </p:sp>
      <p:pic>
        <p:nvPicPr>
          <p:cNvPr id="5" name="Image 0" descr="drawio/images/activity-arbitrator.png"/>
          <p:cNvPicPr>
            <a:picLocks noChangeAspect="1"/>
          </p:cNvPicPr>
          <p:nvPr/>
        </p:nvPicPr>
        <p:blipFill>
          <a:blip r:embed="rId3"/>
          <a:srcRect/>
          <a:stretch/>
        </p:blipFill>
        <p:spPr>
          <a:xfrm>
            <a:off x="256032" y="868680"/>
            <a:ext cx="3520440" cy="4160520"/>
          </a:xfrm>
          <a:prstGeom prst="rect">
            <a:avLst/>
          </a:prstGeom>
        </p:spPr>
      </p:pic>
      <p:sp>
        <p:nvSpPr>
          <p:cNvPr id="6" name="Shape 3"/>
          <p:cNvSpPr/>
          <p:nvPr/>
        </p:nvSpPr>
        <p:spPr>
          <a:xfrm>
            <a:off x="3931920" y="886968"/>
            <a:ext cx="265176" cy="265176"/>
          </a:xfrm>
          <a:prstGeom prst="ellipse">
            <a:avLst/>
          </a:prstGeom>
          <a:solidFill>
            <a:srgbClr val="1E2761"/>
          </a:solidFill>
          <a:ln w="12700">
            <a:solidFill>
              <a:srgbClr val="1E2761"/>
            </a:solidFill>
            <a:prstDash val="solid"/>
          </a:ln>
        </p:spPr>
        <p:txBody>
          <a:bodyPr/>
          <a:lstStyle/>
          <a:p>
            <a:endParaRPr lang="en-US"/>
          </a:p>
        </p:txBody>
      </p:sp>
      <p:sp>
        <p:nvSpPr>
          <p:cNvPr id="7" name="Text 4"/>
          <p:cNvSpPr/>
          <p:nvPr/>
        </p:nvSpPr>
        <p:spPr>
          <a:xfrm>
            <a:off x="3931920" y="886968"/>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4279392" y="896112"/>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Philosopher asks Waiter before picking up any chopstick</a:t>
            </a:r>
            <a:endParaRPr lang="en-US" sz="1150" dirty="0"/>
          </a:p>
        </p:txBody>
      </p:sp>
      <p:sp>
        <p:nvSpPr>
          <p:cNvPr id="9" name="Shape 6"/>
          <p:cNvSpPr/>
          <p:nvPr/>
        </p:nvSpPr>
        <p:spPr>
          <a:xfrm>
            <a:off x="3931920" y="1417320"/>
            <a:ext cx="265176" cy="265176"/>
          </a:xfrm>
          <a:prstGeom prst="ellipse">
            <a:avLst/>
          </a:prstGeom>
          <a:solidFill>
            <a:srgbClr val="1E2761"/>
          </a:solidFill>
          <a:ln w="12700">
            <a:solidFill>
              <a:srgbClr val="1E2761"/>
            </a:solidFill>
            <a:prstDash val="solid"/>
          </a:ln>
        </p:spPr>
        <p:txBody>
          <a:bodyPr/>
          <a:lstStyle/>
          <a:p>
            <a:endParaRPr lang="en-US"/>
          </a:p>
        </p:txBody>
      </p:sp>
      <p:sp>
        <p:nvSpPr>
          <p:cNvPr id="10" name="Text 7"/>
          <p:cNvSpPr/>
          <p:nvPr/>
        </p:nvSpPr>
        <p:spPr>
          <a:xfrm>
            <a:off x="3931920" y="1417320"/>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4279392" y="1426464"/>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Waiter grants only when both adjacent chopsticks are free</a:t>
            </a:r>
            <a:endParaRPr lang="en-US" sz="1150" dirty="0"/>
          </a:p>
        </p:txBody>
      </p:sp>
      <p:sp>
        <p:nvSpPr>
          <p:cNvPr id="12" name="Shape 9"/>
          <p:cNvSpPr/>
          <p:nvPr/>
        </p:nvSpPr>
        <p:spPr>
          <a:xfrm>
            <a:off x="3931920" y="1947672"/>
            <a:ext cx="265176" cy="265176"/>
          </a:xfrm>
          <a:prstGeom prst="ellipse">
            <a:avLst/>
          </a:prstGeom>
          <a:solidFill>
            <a:srgbClr val="1E2761"/>
          </a:solidFill>
          <a:ln w="12700">
            <a:solidFill>
              <a:srgbClr val="1E2761"/>
            </a:solidFill>
            <a:prstDash val="solid"/>
          </a:ln>
        </p:spPr>
        <p:txBody>
          <a:bodyPr/>
          <a:lstStyle/>
          <a:p>
            <a:endParaRPr lang="en-US"/>
          </a:p>
        </p:txBody>
      </p:sp>
      <p:sp>
        <p:nvSpPr>
          <p:cNvPr id="13" name="Text 10"/>
          <p:cNvSpPr/>
          <p:nvPr/>
        </p:nvSpPr>
        <p:spPr>
          <a:xfrm>
            <a:off x="3931920" y="1947672"/>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4279392" y="1956816"/>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Waiting threads call wait(); Waiter calls notifyAll() on release</a:t>
            </a:r>
            <a:endParaRPr lang="en-US" sz="1150" dirty="0"/>
          </a:p>
        </p:txBody>
      </p:sp>
      <p:sp>
        <p:nvSpPr>
          <p:cNvPr id="15" name="Shape 12"/>
          <p:cNvSpPr/>
          <p:nvPr/>
        </p:nvSpPr>
        <p:spPr>
          <a:xfrm>
            <a:off x="3931920" y="2478024"/>
            <a:ext cx="265176" cy="265176"/>
          </a:xfrm>
          <a:prstGeom prst="ellipse">
            <a:avLst/>
          </a:prstGeom>
          <a:solidFill>
            <a:srgbClr val="1E2761"/>
          </a:solidFill>
          <a:ln w="12700">
            <a:solidFill>
              <a:srgbClr val="1E2761"/>
            </a:solidFill>
            <a:prstDash val="solid"/>
          </a:ln>
        </p:spPr>
        <p:txBody>
          <a:bodyPr/>
          <a:lstStyle/>
          <a:p>
            <a:endParaRPr lang="en-US"/>
          </a:p>
        </p:txBody>
      </p:sp>
      <p:sp>
        <p:nvSpPr>
          <p:cNvPr id="16" name="Text 13"/>
          <p:cNvSpPr/>
          <p:nvPr/>
        </p:nvSpPr>
        <p:spPr>
          <a:xfrm>
            <a:off x="3931920" y="2478024"/>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4279392" y="2487168"/>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Max ⌊N/2⌋ philosophers eating simultaneously</a:t>
            </a:r>
            <a:endParaRPr lang="en-US" sz="1150" dirty="0"/>
          </a:p>
        </p:txBody>
      </p:sp>
      <p:sp>
        <p:nvSpPr>
          <p:cNvPr id="18" name="Shape 15"/>
          <p:cNvSpPr/>
          <p:nvPr/>
        </p:nvSpPr>
        <p:spPr>
          <a:xfrm>
            <a:off x="3931920" y="2971800"/>
            <a:ext cx="4892040" cy="384048"/>
          </a:xfrm>
          <a:prstGeom prst="rect">
            <a:avLst/>
          </a:prstGeom>
          <a:solidFill>
            <a:srgbClr val="CADCFC">
              <a:alpha val="75000"/>
            </a:srgbClr>
          </a:solidFill>
          <a:ln w="12700">
            <a:solidFill>
              <a:srgbClr val="1E2761"/>
            </a:solidFill>
            <a:prstDash val="solid"/>
          </a:ln>
        </p:spPr>
        <p:txBody>
          <a:bodyPr/>
          <a:lstStyle/>
          <a:p>
            <a:endParaRPr lang="en-US"/>
          </a:p>
        </p:txBody>
      </p:sp>
      <p:sp>
        <p:nvSpPr>
          <p:cNvPr id="19" name="Text 16"/>
          <p:cNvSpPr/>
          <p:nvPr/>
        </p:nvSpPr>
        <p:spPr>
          <a:xfrm>
            <a:off x="4041648" y="2999232"/>
            <a:ext cx="4663440" cy="329184"/>
          </a:xfrm>
          <a:prstGeom prst="rect">
            <a:avLst/>
          </a:prstGeom>
          <a:noFill/>
          <a:ln/>
        </p:spPr>
        <p:txBody>
          <a:bodyPr wrap="square" lIns="0" tIns="0" rIns="0" bIns="0" rtlCol="0" anchor="ctr"/>
          <a:lstStyle/>
          <a:p>
            <a:pPr marL="0" indent="0">
              <a:buNone/>
            </a:pPr>
            <a:r>
              <a:rPr lang="en-US" sz="950" i="1" dirty="0">
                <a:solidFill>
                  <a:srgbClr val="1E2761"/>
                </a:solidFill>
                <a:latin typeface="Consolas" pitchFamily="34" charset="0"/>
                <a:ea typeface="Consolas" pitchFamily="34" charset="-122"/>
                <a:cs typeface="Consolas" pitchFamily="34" charset="-120"/>
              </a:rPr>
              <a:t>JCIP: @GuardedBy("this") · condition queue (§14.1)</a:t>
            </a:r>
            <a:endParaRPr lang="en-US" sz="950" dirty="0"/>
          </a:p>
        </p:txBody>
      </p:sp>
      <p:sp>
        <p:nvSpPr>
          <p:cNvPr id="20" name="Shape 17"/>
          <p:cNvSpPr/>
          <p:nvPr/>
        </p:nvSpPr>
        <p:spPr>
          <a:xfrm>
            <a:off x="3931920" y="3401568"/>
            <a:ext cx="4892040" cy="1664208"/>
          </a:xfrm>
          <a:prstGeom prst="rect">
            <a:avLst/>
          </a:prstGeom>
          <a:solidFill>
            <a:srgbClr val="1B2638"/>
          </a:solidFill>
          <a:ln w="12700">
            <a:solidFill>
              <a:srgbClr val="2D3F50"/>
            </a:solidFill>
            <a:prstDash val="solid"/>
          </a:ln>
        </p:spPr>
        <p:txBody>
          <a:bodyPr/>
          <a:lstStyle/>
          <a:p>
            <a:endParaRPr lang="en-US"/>
          </a:p>
        </p:txBody>
      </p:sp>
      <p:sp>
        <p:nvSpPr>
          <p:cNvPr id="21" name="Text 18"/>
          <p:cNvSpPr/>
          <p:nvPr/>
        </p:nvSpPr>
        <p:spPr>
          <a:xfrm>
            <a:off x="4050792" y="3493008"/>
            <a:ext cx="4654296" cy="1481328"/>
          </a:xfrm>
          <a:prstGeom prst="rect">
            <a:avLst/>
          </a:prstGeom>
          <a:noFill/>
          <a:ln/>
        </p:spPr>
        <p:txBody>
          <a:bodyPr wrap="square" lIns="0" tIns="0" rIns="0" bIns="0" rtlCol="0" anchor="t"/>
          <a:lstStyle/>
          <a:p>
            <a:pPr marL="0" indent="0">
              <a:buNone/>
            </a:pPr>
            <a:r>
              <a:rPr lang="en-US" sz="800" dirty="0">
                <a:solidFill>
                  <a:srgbClr val="E2E8F0"/>
                </a:solidFill>
                <a:latin typeface="Consolas" pitchFamily="34" charset="0"/>
                <a:ea typeface="Consolas" pitchFamily="34" charset="-122"/>
                <a:cs typeface="Consolas" pitchFamily="34" charset="-120"/>
              </a:rPr>
              <a:t>@GuardedBy("this")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synchronized void requestChopsticks(int l, int r)</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throws InterruptedException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while (chopstickInUse[l] || chopstickInUse[r])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wait();             // block until notifyAll()</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chopstickInUse[l] = chopstickInUse[r] = true;</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synchronized void releaseChopsticks(int l, int r)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chopstickInUse[l] = chopstickInUse[r] = false;</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notifyAll();          // wake all waiting threads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Solution 3: Chandy / Misra (Message Passing)</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No shared locks — all coordination through LinkedBlockingQueue inboxes</a:t>
            </a:r>
            <a:endParaRPr lang="en-US" sz="1150" dirty="0"/>
          </a:p>
        </p:txBody>
      </p:sp>
      <p:pic>
        <p:nvPicPr>
          <p:cNvPr id="5" name="Image 0" descr="drawio/images/activity-chandy-misra.png"/>
          <p:cNvPicPr>
            <a:picLocks noChangeAspect="1"/>
          </p:cNvPicPr>
          <p:nvPr/>
        </p:nvPicPr>
        <p:blipFill>
          <a:blip r:embed="rId3"/>
          <a:srcRect/>
          <a:stretch/>
        </p:blipFill>
        <p:spPr>
          <a:xfrm>
            <a:off x="256032" y="868680"/>
            <a:ext cx="3520440" cy="4160520"/>
          </a:xfrm>
          <a:prstGeom prst="rect">
            <a:avLst/>
          </a:prstGeom>
        </p:spPr>
      </p:pic>
      <p:sp>
        <p:nvSpPr>
          <p:cNvPr id="6" name="Shape 3"/>
          <p:cNvSpPr/>
          <p:nvPr/>
        </p:nvSpPr>
        <p:spPr>
          <a:xfrm>
            <a:off x="3931920" y="886968"/>
            <a:ext cx="265176" cy="265176"/>
          </a:xfrm>
          <a:prstGeom prst="ellipse">
            <a:avLst/>
          </a:prstGeom>
          <a:solidFill>
            <a:srgbClr val="0D9488"/>
          </a:solidFill>
          <a:ln w="12700">
            <a:solidFill>
              <a:srgbClr val="0D9488"/>
            </a:solidFill>
            <a:prstDash val="solid"/>
          </a:ln>
        </p:spPr>
        <p:txBody>
          <a:bodyPr/>
          <a:lstStyle/>
          <a:p>
            <a:endParaRPr lang="en-US"/>
          </a:p>
        </p:txBody>
      </p:sp>
      <p:sp>
        <p:nvSpPr>
          <p:cNvPr id="7" name="Text 4"/>
          <p:cNvSpPr/>
          <p:nvPr/>
        </p:nvSpPr>
        <p:spPr>
          <a:xfrm>
            <a:off x="3931920" y="886968"/>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4279392" y="896112"/>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Each chopstick is clean or dirty, owned by exactly one philosopher</a:t>
            </a:r>
            <a:endParaRPr lang="en-US" sz="1150" dirty="0"/>
          </a:p>
        </p:txBody>
      </p:sp>
      <p:sp>
        <p:nvSpPr>
          <p:cNvPr id="9" name="Shape 6"/>
          <p:cNvSpPr/>
          <p:nvPr/>
        </p:nvSpPr>
        <p:spPr>
          <a:xfrm>
            <a:off x="3931920" y="1417320"/>
            <a:ext cx="265176" cy="265176"/>
          </a:xfrm>
          <a:prstGeom prst="ellipse">
            <a:avLst/>
          </a:prstGeom>
          <a:solidFill>
            <a:srgbClr val="0D9488"/>
          </a:solidFill>
          <a:ln w="12700">
            <a:solidFill>
              <a:srgbClr val="0D9488"/>
            </a:solidFill>
            <a:prstDash val="solid"/>
          </a:ln>
        </p:spPr>
        <p:txBody>
          <a:bodyPr/>
          <a:lstStyle/>
          <a:p>
            <a:endParaRPr lang="en-US"/>
          </a:p>
        </p:txBody>
      </p:sp>
      <p:sp>
        <p:nvSpPr>
          <p:cNvPr id="10" name="Text 7"/>
          <p:cNvSpPr/>
          <p:nvPr/>
        </p:nvSpPr>
        <p:spPr>
          <a:xfrm>
            <a:off x="3931920" y="1417320"/>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4279392" y="1426464"/>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Initially dirty, held by the lower-numbered neighbor</a:t>
            </a:r>
            <a:endParaRPr lang="en-US" sz="1150" dirty="0"/>
          </a:p>
        </p:txBody>
      </p:sp>
      <p:sp>
        <p:nvSpPr>
          <p:cNvPr id="12" name="Shape 9"/>
          <p:cNvSpPr/>
          <p:nvPr/>
        </p:nvSpPr>
        <p:spPr>
          <a:xfrm>
            <a:off x="3931920" y="1947672"/>
            <a:ext cx="265176" cy="265176"/>
          </a:xfrm>
          <a:prstGeom prst="ellipse">
            <a:avLst/>
          </a:prstGeom>
          <a:solidFill>
            <a:srgbClr val="0D9488"/>
          </a:solidFill>
          <a:ln w="12700">
            <a:solidFill>
              <a:srgbClr val="0D9488"/>
            </a:solidFill>
            <a:prstDash val="solid"/>
          </a:ln>
        </p:spPr>
        <p:txBody>
          <a:bodyPr/>
          <a:lstStyle/>
          <a:p>
            <a:endParaRPr lang="en-US"/>
          </a:p>
        </p:txBody>
      </p:sp>
      <p:sp>
        <p:nvSpPr>
          <p:cNvPr id="13" name="Text 10"/>
          <p:cNvSpPr/>
          <p:nvPr/>
        </p:nvSpPr>
        <p:spPr>
          <a:xfrm>
            <a:off x="3931920" y="1947672"/>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4279392" y="1956816"/>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Dirty + requested while THINKING → clean and send immediately</a:t>
            </a:r>
            <a:endParaRPr lang="en-US" sz="1150" dirty="0"/>
          </a:p>
        </p:txBody>
      </p:sp>
      <p:sp>
        <p:nvSpPr>
          <p:cNvPr id="15" name="Shape 12"/>
          <p:cNvSpPr/>
          <p:nvPr/>
        </p:nvSpPr>
        <p:spPr>
          <a:xfrm>
            <a:off x="3931920" y="2478024"/>
            <a:ext cx="265176" cy="265176"/>
          </a:xfrm>
          <a:prstGeom prst="ellipse">
            <a:avLst/>
          </a:prstGeom>
          <a:solidFill>
            <a:srgbClr val="0D9488"/>
          </a:solidFill>
          <a:ln w="12700">
            <a:solidFill>
              <a:srgbClr val="0D9488"/>
            </a:solidFill>
            <a:prstDash val="solid"/>
          </a:ln>
        </p:spPr>
        <p:txBody>
          <a:bodyPr/>
          <a:lstStyle/>
          <a:p>
            <a:endParaRPr lang="en-US"/>
          </a:p>
        </p:txBody>
      </p:sp>
      <p:sp>
        <p:nvSpPr>
          <p:cNvPr id="16" name="Text 13"/>
          <p:cNvSpPr/>
          <p:nvPr/>
        </p:nvSpPr>
        <p:spPr>
          <a:xfrm>
            <a:off x="3931920" y="2478024"/>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4279392" y="2487168"/>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EATING or HUNGRY always defers — dirty fork is sent only when THINKING (starvation-free)</a:t>
            </a:r>
            <a:endParaRPr lang="en-US" sz="1150" dirty="0"/>
          </a:p>
        </p:txBody>
      </p:sp>
      <p:sp>
        <p:nvSpPr>
          <p:cNvPr id="18" name="Shape 15"/>
          <p:cNvSpPr/>
          <p:nvPr/>
        </p:nvSpPr>
        <p:spPr>
          <a:xfrm>
            <a:off x="3931920" y="2971800"/>
            <a:ext cx="4892040" cy="384048"/>
          </a:xfrm>
          <a:prstGeom prst="rect">
            <a:avLst/>
          </a:prstGeom>
          <a:solidFill>
            <a:srgbClr val="CADCFC">
              <a:alpha val="75000"/>
            </a:srgbClr>
          </a:solidFill>
          <a:ln w="12700">
            <a:solidFill>
              <a:srgbClr val="1E2761"/>
            </a:solidFill>
            <a:prstDash val="solid"/>
          </a:ln>
        </p:spPr>
        <p:txBody>
          <a:bodyPr/>
          <a:lstStyle/>
          <a:p>
            <a:endParaRPr lang="en-US"/>
          </a:p>
        </p:txBody>
      </p:sp>
      <p:sp>
        <p:nvSpPr>
          <p:cNvPr id="19" name="Text 16"/>
          <p:cNvSpPr/>
          <p:nvPr/>
        </p:nvSpPr>
        <p:spPr>
          <a:xfrm>
            <a:off x="4041648" y="2999232"/>
            <a:ext cx="4663440" cy="329184"/>
          </a:xfrm>
          <a:prstGeom prst="rect">
            <a:avLst/>
          </a:prstGeom>
          <a:noFill/>
          <a:ln/>
        </p:spPr>
        <p:txBody>
          <a:bodyPr wrap="square" lIns="0" tIns="0" rIns="0" bIns="0" rtlCol="0" anchor="ctr"/>
          <a:lstStyle/>
          <a:p>
            <a:pPr marL="0" indent="0">
              <a:buNone/>
            </a:pPr>
            <a:r>
              <a:rPr lang="en-US" sz="950" i="1" dirty="0">
                <a:solidFill>
                  <a:srgbClr val="1E2761"/>
                </a:solidFill>
                <a:latin typeface="Consolas" pitchFamily="34" charset="0"/>
                <a:ea typeface="Consolas" pitchFamily="34" charset="-122"/>
                <a:cs typeface="Consolas" pitchFamily="34" charset="-120"/>
              </a:rPr>
              <a:t>JCIP: @Immutable Message · actor-style threading (§5.3)</a:t>
            </a:r>
            <a:endParaRPr lang="en-US" sz="950" dirty="0"/>
          </a:p>
        </p:txBody>
      </p:sp>
      <p:sp>
        <p:nvSpPr>
          <p:cNvPr id="20" name="Shape 17"/>
          <p:cNvSpPr/>
          <p:nvPr/>
        </p:nvSpPr>
        <p:spPr>
          <a:xfrm>
            <a:off x="3931920" y="3401568"/>
            <a:ext cx="4892040" cy="1664208"/>
          </a:xfrm>
          <a:prstGeom prst="rect">
            <a:avLst/>
          </a:prstGeom>
          <a:solidFill>
            <a:srgbClr val="1B2638"/>
          </a:solidFill>
          <a:ln w="12700">
            <a:solidFill>
              <a:srgbClr val="2D3F50"/>
            </a:solidFill>
            <a:prstDash val="solid"/>
          </a:ln>
        </p:spPr>
        <p:txBody>
          <a:bodyPr/>
          <a:lstStyle/>
          <a:p>
            <a:endParaRPr lang="en-US"/>
          </a:p>
        </p:txBody>
      </p:sp>
      <p:sp>
        <p:nvSpPr>
          <p:cNvPr id="21" name="Text 18"/>
          <p:cNvSpPr/>
          <p:nvPr/>
        </p:nvSpPr>
        <p:spPr>
          <a:xfrm>
            <a:off x="4050792" y="3493008"/>
            <a:ext cx="4654296" cy="1481328"/>
          </a:xfrm>
          <a:prstGeom prst="rect">
            <a:avLst/>
          </a:prstGeom>
          <a:noFill/>
          <a:ln/>
        </p:spPr>
        <p:txBody>
          <a:bodyPr wrap="square" lIns="0" tIns="0" rIns="0" bIns="0" rtlCol="0" anchor="t"/>
          <a:lstStyle/>
          <a:p>
            <a:pPr marL="0" indent="0">
              <a:buNone/>
            </a:pPr>
            <a:r>
              <a:rPr lang="en-US" sz="800" dirty="0">
                <a:solidFill>
                  <a:srgbClr val="E2E8F0"/>
                </a:solidFill>
                <a:latin typeface="Consolas" pitchFamily="34" charset="0"/>
                <a:ea typeface="Consolas" pitchFamily="34" charset="-122"/>
                <a:cs typeface="Consolas" pitchFamily="34" charset="-120"/>
              </a:rPr>
              <a:t>// Respond to fork requests while thinking or eating</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private void sleepProcessing(int totalMs) throws InterruptedException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long deadline = System.currentTimeMillis() + totalMs;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while (System.currentTimeMillis() &lt; deadline &amp;&amp; !stopped.get())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Message msg = myInbox.poll(50, TimeUnit.MILLISECONDS);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if (msg != null) processMessage(msg);</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Give dirty fork to requester immediately</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if (dirty &amp;&amp; cur == THINKING)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holdsLeft[0] = false;  leftDirty[0] = false;</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leftInbox.put(new Message(MsgType.FORK, id));</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else { deferLeft[0] = true; }</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Solution 4: Monitor / Condition Variables</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Single ReentrantLock + one Condition per philosopher — most idiomatic Java</a:t>
            </a:r>
            <a:endParaRPr lang="en-US" sz="1150" dirty="0"/>
          </a:p>
        </p:txBody>
      </p:sp>
      <p:pic>
        <p:nvPicPr>
          <p:cNvPr id="5" name="Image 0" descr="drawio/images/activity-monitor,png"/>
          <p:cNvPicPr>
            <a:picLocks noChangeAspect="1"/>
          </p:cNvPicPr>
          <p:nvPr/>
        </p:nvPicPr>
        <p:blipFill>
          <a:blip r:embed="rId3"/>
          <a:srcRect/>
          <a:stretch/>
        </p:blipFill>
        <p:spPr>
          <a:xfrm>
            <a:off x="256032" y="868680"/>
            <a:ext cx="3520440" cy="4160520"/>
          </a:xfrm>
          <a:prstGeom prst="rect">
            <a:avLst/>
          </a:prstGeom>
        </p:spPr>
      </p:pic>
      <p:sp>
        <p:nvSpPr>
          <p:cNvPr id="6" name="Shape 3"/>
          <p:cNvSpPr/>
          <p:nvPr/>
        </p:nvSpPr>
        <p:spPr>
          <a:xfrm>
            <a:off x="3931920" y="886968"/>
            <a:ext cx="265176" cy="265176"/>
          </a:xfrm>
          <a:prstGeom prst="ellipse">
            <a:avLst/>
          </a:prstGeom>
          <a:solidFill>
            <a:srgbClr val="059669"/>
          </a:solidFill>
          <a:ln w="12700">
            <a:solidFill>
              <a:srgbClr val="059669"/>
            </a:solidFill>
            <a:prstDash val="solid"/>
          </a:ln>
        </p:spPr>
        <p:txBody>
          <a:bodyPr/>
          <a:lstStyle/>
          <a:p>
            <a:endParaRPr lang="en-US"/>
          </a:p>
        </p:txBody>
      </p:sp>
      <p:sp>
        <p:nvSpPr>
          <p:cNvPr id="7" name="Text 4"/>
          <p:cNvSpPr/>
          <p:nvPr/>
        </p:nvSpPr>
        <p:spPr>
          <a:xfrm>
            <a:off x="3931920" y="886968"/>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4279392" y="896112"/>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Global state[] array: THINKING, HUNGRY, or EATING per philosopher</a:t>
            </a:r>
            <a:endParaRPr lang="en-US" sz="1150" dirty="0"/>
          </a:p>
        </p:txBody>
      </p:sp>
      <p:sp>
        <p:nvSpPr>
          <p:cNvPr id="9" name="Shape 6"/>
          <p:cNvSpPr/>
          <p:nvPr/>
        </p:nvSpPr>
        <p:spPr>
          <a:xfrm>
            <a:off x="3931920" y="1417320"/>
            <a:ext cx="265176" cy="265176"/>
          </a:xfrm>
          <a:prstGeom prst="ellipse">
            <a:avLst/>
          </a:prstGeom>
          <a:solidFill>
            <a:srgbClr val="059669"/>
          </a:solidFill>
          <a:ln w="12700">
            <a:solidFill>
              <a:srgbClr val="059669"/>
            </a:solidFill>
            <a:prstDash val="solid"/>
          </a:ln>
        </p:spPr>
        <p:txBody>
          <a:bodyPr/>
          <a:lstStyle/>
          <a:p>
            <a:endParaRPr lang="en-US"/>
          </a:p>
        </p:txBody>
      </p:sp>
      <p:sp>
        <p:nvSpPr>
          <p:cNvPr id="10" name="Text 7"/>
          <p:cNvSpPr/>
          <p:nvPr/>
        </p:nvSpPr>
        <p:spPr>
          <a:xfrm>
            <a:off x="3931920" y="1417320"/>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4279392" y="1426464"/>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 philosopher can only eat when both neighbors are not eating</a:t>
            </a:r>
            <a:endParaRPr lang="en-US" sz="1150" dirty="0"/>
          </a:p>
        </p:txBody>
      </p:sp>
      <p:sp>
        <p:nvSpPr>
          <p:cNvPr id="12" name="Shape 9"/>
          <p:cNvSpPr/>
          <p:nvPr/>
        </p:nvSpPr>
        <p:spPr>
          <a:xfrm>
            <a:off x="3931920" y="1947672"/>
            <a:ext cx="265176" cy="265176"/>
          </a:xfrm>
          <a:prstGeom prst="ellipse">
            <a:avLst/>
          </a:prstGeom>
          <a:solidFill>
            <a:srgbClr val="059669"/>
          </a:solidFill>
          <a:ln w="12700">
            <a:solidFill>
              <a:srgbClr val="059669"/>
            </a:solidFill>
            <a:prstDash val="solid"/>
          </a:ln>
        </p:spPr>
        <p:txBody>
          <a:bodyPr/>
          <a:lstStyle/>
          <a:p>
            <a:endParaRPr lang="en-US"/>
          </a:p>
        </p:txBody>
      </p:sp>
      <p:sp>
        <p:nvSpPr>
          <p:cNvPr id="13" name="Text 10"/>
          <p:cNvSpPr/>
          <p:nvPr/>
        </p:nvSpPr>
        <p:spPr>
          <a:xfrm>
            <a:off x="3931920" y="1947672"/>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4279392" y="1956816"/>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putDown() calls test() on both neighbors — targeted signal(), not broadcast</a:t>
            </a:r>
            <a:endParaRPr lang="en-US" sz="1150" dirty="0"/>
          </a:p>
        </p:txBody>
      </p:sp>
      <p:sp>
        <p:nvSpPr>
          <p:cNvPr id="15" name="Shape 12"/>
          <p:cNvSpPr/>
          <p:nvPr/>
        </p:nvSpPr>
        <p:spPr>
          <a:xfrm>
            <a:off x="3931920" y="2478024"/>
            <a:ext cx="265176" cy="265176"/>
          </a:xfrm>
          <a:prstGeom prst="ellipse">
            <a:avLst/>
          </a:prstGeom>
          <a:solidFill>
            <a:srgbClr val="059669"/>
          </a:solidFill>
          <a:ln w="12700">
            <a:solidFill>
              <a:srgbClr val="059669"/>
            </a:solidFill>
            <a:prstDash val="solid"/>
          </a:ln>
        </p:spPr>
        <p:txBody>
          <a:bodyPr/>
          <a:lstStyle/>
          <a:p>
            <a:endParaRPr lang="en-US"/>
          </a:p>
        </p:txBody>
      </p:sp>
      <p:sp>
        <p:nvSpPr>
          <p:cNvPr id="16" name="Text 13"/>
          <p:cNvSpPr/>
          <p:nvPr/>
        </p:nvSpPr>
        <p:spPr>
          <a:xfrm>
            <a:off x="3931920" y="2478024"/>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4279392" y="2487168"/>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Single lock guards all state; starvation-free through neighbor signaling</a:t>
            </a:r>
            <a:endParaRPr lang="en-US" sz="1150" dirty="0"/>
          </a:p>
        </p:txBody>
      </p:sp>
      <p:sp>
        <p:nvSpPr>
          <p:cNvPr id="18" name="Shape 15"/>
          <p:cNvSpPr/>
          <p:nvPr/>
        </p:nvSpPr>
        <p:spPr>
          <a:xfrm>
            <a:off x="3931920" y="2971800"/>
            <a:ext cx="4892040" cy="384048"/>
          </a:xfrm>
          <a:prstGeom prst="rect">
            <a:avLst/>
          </a:prstGeom>
          <a:solidFill>
            <a:srgbClr val="CADCFC">
              <a:alpha val="75000"/>
            </a:srgbClr>
          </a:solidFill>
          <a:ln w="12700">
            <a:solidFill>
              <a:srgbClr val="1E2761"/>
            </a:solidFill>
            <a:prstDash val="solid"/>
          </a:ln>
        </p:spPr>
        <p:txBody>
          <a:bodyPr/>
          <a:lstStyle/>
          <a:p>
            <a:endParaRPr lang="en-US"/>
          </a:p>
        </p:txBody>
      </p:sp>
      <p:sp>
        <p:nvSpPr>
          <p:cNvPr id="19" name="Text 16"/>
          <p:cNvSpPr/>
          <p:nvPr/>
        </p:nvSpPr>
        <p:spPr>
          <a:xfrm>
            <a:off x="4041648" y="2999232"/>
            <a:ext cx="4663440" cy="329184"/>
          </a:xfrm>
          <a:prstGeom prst="rect">
            <a:avLst/>
          </a:prstGeom>
          <a:noFill/>
          <a:ln/>
        </p:spPr>
        <p:txBody>
          <a:bodyPr wrap="square" lIns="0" tIns="0" rIns="0" bIns="0" rtlCol="0" anchor="ctr"/>
          <a:lstStyle/>
          <a:p>
            <a:pPr marL="0" indent="0">
              <a:buNone/>
            </a:pPr>
            <a:r>
              <a:rPr lang="en-US" sz="950" i="1" dirty="0">
                <a:solidFill>
                  <a:srgbClr val="1E2761"/>
                </a:solidFill>
                <a:latin typeface="Consolas" pitchFamily="34" charset="0"/>
                <a:ea typeface="Consolas" pitchFamily="34" charset="-122"/>
                <a:cs typeface="Consolas" pitchFamily="34" charset="-120"/>
              </a:rPr>
              <a:t>JCIP: @GuardedBy("lock") · ReentrantLock + Condition (§14.3)</a:t>
            </a:r>
            <a:endParaRPr lang="en-US" sz="950" dirty="0"/>
          </a:p>
        </p:txBody>
      </p:sp>
      <p:sp>
        <p:nvSpPr>
          <p:cNvPr id="20" name="Shape 17"/>
          <p:cNvSpPr/>
          <p:nvPr/>
        </p:nvSpPr>
        <p:spPr>
          <a:xfrm>
            <a:off x="3931920" y="3401568"/>
            <a:ext cx="4892040" cy="1664208"/>
          </a:xfrm>
          <a:prstGeom prst="rect">
            <a:avLst/>
          </a:prstGeom>
          <a:solidFill>
            <a:srgbClr val="1B2638"/>
          </a:solidFill>
          <a:ln w="12700">
            <a:solidFill>
              <a:srgbClr val="2D3F50"/>
            </a:solidFill>
            <a:prstDash val="solid"/>
          </a:ln>
        </p:spPr>
        <p:txBody>
          <a:bodyPr/>
          <a:lstStyle/>
          <a:p>
            <a:endParaRPr lang="en-US"/>
          </a:p>
        </p:txBody>
      </p:sp>
      <p:sp>
        <p:nvSpPr>
          <p:cNvPr id="21" name="Text 18"/>
          <p:cNvSpPr/>
          <p:nvPr/>
        </p:nvSpPr>
        <p:spPr>
          <a:xfrm>
            <a:off x="4050792" y="3493008"/>
            <a:ext cx="4654296" cy="1481328"/>
          </a:xfrm>
          <a:prstGeom prst="rect">
            <a:avLst/>
          </a:prstGeom>
          <a:noFill/>
          <a:ln/>
        </p:spPr>
        <p:txBody>
          <a:bodyPr wrap="square" lIns="0" tIns="0" rIns="0" bIns="0" rtlCol="0" anchor="t"/>
          <a:lstStyle/>
          <a:p>
            <a:pPr marL="0" indent="0">
              <a:buNone/>
            </a:pPr>
            <a:r>
              <a:rPr lang="en-US" sz="800" dirty="0">
                <a:solidFill>
                  <a:srgbClr val="E2E8F0"/>
                </a:solidFill>
                <a:latin typeface="Consolas" pitchFamily="34" charset="0"/>
                <a:ea typeface="Consolas" pitchFamily="34" charset="-122"/>
                <a:cs typeface="Consolas" pitchFamily="34" charset="-120"/>
              </a:rPr>
              <a:t>// @GuardedBy("lock")</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private void test(int i)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if (state[i]==HUNGRY</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&amp;&amp; state[(i-1+n)%n]!=EATING</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&amp;&amp; state[(i+1)%n]  !=EATING)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state[i]=EATING; self[i].signal();</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private void pickUp(int i) throws InterruptedException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lock.lockInterruptibly(); try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state[i]=HUNGRY; test(i);</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while (state[i]!=EATING) self[i].await();</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 finally { lock.unlock();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Architecture &amp; Monitoring</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Controller knows only DiningRunner · three daemon monitors; first to fire wins via AtomicBoolean</a:t>
            </a:r>
            <a:endParaRPr lang="en-US" sz="1150" dirty="0"/>
          </a:p>
        </p:txBody>
      </p:sp>
      <p:pic>
        <p:nvPicPr>
          <p:cNvPr id="5" name="Image 0" descr="drawio/images/class-diagram.png"/>
          <p:cNvPicPr>
            <a:picLocks noChangeAspect="1"/>
          </p:cNvPicPr>
          <p:nvPr/>
        </p:nvPicPr>
        <p:blipFill>
          <a:blip r:embed="rId3"/>
          <a:srcRect/>
          <a:stretch/>
        </p:blipFill>
        <p:spPr>
          <a:xfrm>
            <a:off x="256032" y="868680"/>
            <a:ext cx="4846320" cy="2331720"/>
          </a:xfrm>
          <a:prstGeom prst="rect">
            <a:avLst/>
          </a:prstGeom>
        </p:spPr>
      </p:pic>
      <p:sp>
        <p:nvSpPr>
          <p:cNvPr id="6" name="Shape 3"/>
          <p:cNvSpPr/>
          <p:nvPr/>
        </p:nvSpPr>
        <p:spPr>
          <a:xfrm>
            <a:off x="5212080" y="868680"/>
            <a:ext cx="3675888" cy="1188720"/>
          </a:xfrm>
          <a:prstGeom prst="rect">
            <a:avLst/>
          </a:prstGeom>
          <a:solidFill>
            <a:srgbClr val="1B2638"/>
          </a:solidFill>
          <a:ln w="12700">
            <a:solidFill>
              <a:srgbClr val="2D3F50"/>
            </a:solidFill>
            <a:prstDash val="solid"/>
          </a:ln>
        </p:spPr>
        <p:txBody>
          <a:bodyPr/>
          <a:lstStyle/>
          <a:p>
            <a:endParaRPr lang="en-US"/>
          </a:p>
        </p:txBody>
      </p:sp>
      <p:sp>
        <p:nvSpPr>
          <p:cNvPr id="7" name="Text 4"/>
          <p:cNvSpPr/>
          <p:nvPr/>
        </p:nvSpPr>
        <p:spPr>
          <a:xfrm>
            <a:off x="5330952" y="960120"/>
            <a:ext cx="3438144" cy="1005840"/>
          </a:xfrm>
          <a:prstGeom prst="rect">
            <a:avLst/>
          </a:prstGeom>
          <a:noFill/>
          <a:ln/>
        </p:spPr>
        <p:txBody>
          <a:bodyPr wrap="square" lIns="0" tIns="0" rIns="0" bIns="0" rtlCol="0" anchor="t"/>
          <a:lstStyle/>
          <a:p>
            <a:pPr marL="0" indent="0">
              <a:buNone/>
            </a:pPr>
            <a:r>
              <a:rPr lang="en-US" sz="900" dirty="0">
                <a:solidFill>
                  <a:srgbClr val="E2E8F0"/>
                </a:solidFill>
                <a:latin typeface="Consolas" pitchFamily="34" charset="0"/>
                <a:ea typeface="Consolas" pitchFamily="34" charset="-122"/>
                <a:cs typeface="Consolas" pitchFamily="34" charset="-120"/>
              </a:rPr>
              <a:t>src/</a:t>
            </a:r>
            <a:endParaRPr lang="en-US" sz="900" dirty="0"/>
          </a:p>
          <a:p>
            <a:pPr marL="0" indent="0">
              <a:buNone/>
            </a:pPr>
            <a:r>
              <a:rPr lang="en-US" sz="900" dirty="0">
                <a:solidFill>
                  <a:srgbClr val="E2E8F0"/>
                </a:solidFill>
                <a:latin typeface="Consolas" pitchFamily="34" charset="0"/>
                <a:ea typeface="Consolas" pitchFamily="34" charset="-122"/>
                <a:cs typeface="Consolas" pitchFamily="34" charset="-120"/>
              </a:rPr>
              <a:t>├── controller/  Controller.java</a:t>
            </a:r>
            <a:endParaRPr lang="en-US" sz="900" dirty="0"/>
          </a:p>
          <a:p>
            <a:pPr marL="0" indent="0">
              <a:buNone/>
            </a:pPr>
            <a:r>
              <a:rPr lang="en-US" sz="900" dirty="0">
                <a:solidFill>
                  <a:srgbClr val="E2E8F0"/>
                </a:solidFill>
                <a:latin typeface="Consolas" pitchFamily="34" charset="0"/>
                <a:ea typeface="Consolas" pitchFamily="34" charset="-122"/>
                <a:cs typeface="Consolas" pitchFamily="34" charset="-120"/>
              </a:rPr>
              <a:t>├── model/       Philosopher · Chopstick · SimulationStats</a:t>
            </a:r>
            <a:endParaRPr lang="en-US" sz="900" dirty="0"/>
          </a:p>
          <a:p>
            <a:pPr marL="0" indent="0">
              <a:buNone/>
            </a:pPr>
            <a:r>
              <a:rPr lang="en-US" sz="900" dirty="0">
                <a:solidFill>
                  <a:srgbClr val="E2E8F0"/>
                </a:solidFill>
                <a:latin typeface="Consolas" pitchFamily="34" charset="0"/>
                <a:ea typeface="Consolas" pitchFamily="34" charset="-122"/>
                <a:cs typeface="Consolas" pitchFamily="34" charset="-120"/>
              </a:rPr>
              <a:t>├── solutions/   DiningRunner (iface) + 4 algorithms</a:t>
            </a:r>
            <a:endParaRPr lang="en-US" sz="900" dirty="0"/>
          </a:p>
          <a:p>
            <a:pPr marL="0" indent="0">
              <a:buNone/>
            </a:pPr>
            <a:r>
              <a:rPr lang="en-US" sz="900" dirty="0">
                <a:solidFill>
                  <a:srgbClr val="E2E8F0"/>
                </a:solidFill>
                <a:latin typeface="Consolas" pitchFamily="34" charset="0"/>
                <a:ea typeface="Consolas" pitchFamily="34" charset="-122"/>
                <a:cs typeface="Consolas" pitchFamily="34" charset="-120"/>
              </a:rPr>
              <a:t>└── monitor/     Starvation · Livelock · Deadlock</a:t>
            </a:r>
            <a:endParaRPr lang="en-US" sz="900" dirty="0"/>
          </a:p>
        </p:txBody>
      </p:sp>
      <p:sp>
        <p:nvSpPr>
          <p:cNvPr id="8" name="Shape 5"/>
          <p:cNvSpPr/>
          <p:nvPr/>
        </p:nvSpPr>
        <p:spPr>
          <a:xfrm>
            <a:off x="256032" y="3310128"/>
            <a:ext cx="8631936" cy="0"/>
          </a:xfrm>
          <a:prstGeom prst="line">
            <a:avLst/>
          </a:prstGeom>
          <a:noFill/>
          <a:ln w="12700">
            <a:solidFill>
              <a:srgbClr val="D0D9EF"/>
            </a:solidFill>
            <a:prstDash val="solid"/>
          </a:ln>
        </p:spPr>
        <p:txBody>
          <a:bodyPr/>
          <a:lstStyle/>
          <a:p>
            <a:endParaRPr lang="en-US"/>
          </a:p>
        </p:txBody>
      </p:sp>
      <p:sp>
        <p:nvSpPr>
          <p:cNvPr id="9" name="Shape 6"/>
          <p:cNvSpPr/>
          <p:nvPr/>
        </p:nvSpPr>
        <p:spPr>
          <a:xfrm>
            <a:off x="256032" y="3401568"/>
            <a:ext cx="2807208" cy="160020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en-US"/>
          </a:p>
        </p:txBody>
      </p:sp>
      <p:sp>
        <p:nvSpPr>
          <p:cNvPr id="10" name="Shape 7"/>
          <p:cNvSpPr/>
          <p:nvPr/>
        </p:nvSpPr>
        <p:spPr>
          <a:xfrm>
            <a:off x="256032" y="3401568"/>
            <a:ext cx="64008" cy="1600200"/>
          </a:xfrm>
          <a:prstGeom prst="rect">
            <a:avLst/>
          </a:prstGeom>
          <a:solidFill>
            <a:srgbClr val="D97706"/>
          </a:solidFill>
          <a:ln w="12700">
            <a:solidFill>
              <a:srgbClr val="D97706"/>
            </a:solidFill>
            <a:prstDash val="solid"/>
          </a:ln>
        </p:spPr>
        <p:txBody>
          <a:bodyPr/>
          <a:lstStyle/>
          <a:p>
            <a:endParaRPr lang="en-US"/>
          </a:p>
        </p:txBody>
      </p:sp>
      <p:sp>
        <p:nvSpPr>
          <p:cNvPr id="11" name="Text 8"/>
          <p:cNvSpPr/>
          <p:nvPr/>
        </p:nvSpPr>
        <p:spPr>
          <a:xfrm>
            <a:off x="411480" y="3493008"/>
            <a:ext cx="2606040" cy="256032"/>
          </a:xfrm>
          <a:prstGeom prst="rect">
            <a:avLst/>
          </a:prstGeom>
          <a:noFill/>
          <a:ln/>
        </p:spPr>
        <p:txBody>
          <a:bodyPr wrap="square" lIns="0" tIns="0" rIns="0" bIns="0" rtlCol="0" anchor="ctr"/>
          <a:lstStyle/>
          <a:p>
            <a:pPr marL="0" indent="0">
              <a:buNone/>
            </a:pPr>
            <a:r>
              <a:rPr lang="en-US" sz="1050" b="1" dirty="0">
                <a:solidFill>
                  <a:srgbClr val="D97706"/>
                </a:solidFill>
                <a:latin typeface="Consolas" pitchFamily="34" charset="0"/>
                <a:ea typeface="Consolas" pitchFamily="34" charset="-122"/>
                <a:cs typeface="Consolas" pitchFamily="34" charset="-120"/>
              </a:rPr>
              <a:t>StarvationDetector</a:t>
            </a:r>
            <a:endParaRPr lang="en-US" sz="1050" dirty="0"/>
          </a:p>
        </p:txBody>
      </p:sp>
      <p:sp>
        <p:nvSpPr>
          <p:cNvPr id="12" name="Text 9"/>
          <p:cNvSpPr/>
          <p:nvPr/>
        </p:nvSpPr>
        <p:spPr>
          <a:xfrm>
            <a:off x="411480" y="3785616"/>
            <a:ext cx="2569464" cy="841248"/>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Fires when any philosopher falls behind the leader by more than T = max(10, ⌊leader × 20%⌋) cycles. Adaptive: threshold scales with run progress to prevent false positives at large N.</a:t>
            </a:r>
            <a:endParaRPr lang="en-US" sz="1050" dirty="0"/>
          </a:p>
        </p:txBody>
      </p:sp>
      <p:sp>
        <p:nvSpPr>
          <p:cNvPr id="13" name="Text 10"/>
          <p:cNvSpPr/>
          <p:nvPr/>
        </p:nvSpPr>
        <p:spPr>
          <a:xfrm>
            <a:off x="411480" y="4663440"/>
            <a:ext cx="2606040" cy="256032"/>
          </a:xfrm>
          <a:prstGeom prst="rect">
            <a:avLst/>
          </a:prstGeom>
          <a:noFill/>
          <a:ln/>
        </p:spPr>
        <p:txBody>
          <a:bodyPr wrap="square" lIns="0" tIns="0" rIns="0" bIns="0" rtlCol="0" anchor="ctr"/>
          <a:lstStyle/>
          <a:p>
            <a:pPr marL="0" indent="0">
              <a:buNone/>
            </a:pPr>
            <a:r>
              <a:rPr lang="en-US" sz="850" i="1" dirty="0">
                <a:solidFill>
                  <a:srgbClr val="64748B"/>
                </a:solidFill>
                <a:latin typeface="Consolas" pitchFamily="34" charset="0"/>
                <a:ea typeface="Consolas" pitchFamily="34" charset="-122"/>
                <a:cs typeface="Consolas" pitchFamily="34" charset="-120"/>
              </a:rPr>
              <a:t>P2 is 11 cycles behind P0.</a:t>
            </a:r>
            <a:endParaRPr lang="en-US" sz="850" dirty="0"/>
          </a:p>
        </p:txBody>
      </p:sp>
      <p:sp>
        <p:nvSpPr>
          <p:cNvPr id="14" name="Shape 11"/>
          <p:cNvSpPr/>
          <p:nvPr/>
        </p:nvSpPr>
        <p:spPr>
          <a:xfrm>
            <a:off x="3163824" y="3401568"/>
            <a:ext cx="2807208" cy="160020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en-US"/>
          </a:p>
        </p:txBody>
      </p:sp>
      <p:sp>
        <p:nvSpPr>
          <p:cNvPr id="15" name="Shape 12"/>
          <p:cNvSpPr/>
          <p:nvPr/>
        </p:nvSpPr>
        <p:spPr>
          <a:xfrm>
            <a:off x="3163824" y="3401568"/>
            <a:ext cx="64008" cy="1600200"/>
          </a:xfrm>
          <a:prstGeom prst="rect">
            <a:avLst/>
          </a:prstGeom>
          <a:solidFill>
            <a:srgbClr val="2563EB"/>
          </a:solidFill>
          <a:ln w="12700">
            <a:solidFill>
              <a:srgbClr val="2563EB"/>
            </a:solidFill>
            <a:prstDash val="solid"/>
          </a:ln>
        </p:spPr>
        <p:txBody>
          <a:bodyPr/>
          <a:lstStyle/>
          <a:p>
            <a:endParaRPr lang="en-US"/>
          </a:p>
        </p:txBody>
      </p:sp>
      <p:sp>
        <p:nvSpPr>
          <p:cNvPr id="16" name="Text 13"/>
          <p:cNvSpPr/>
          <p:nvPr/>
        </p:nvSpPr>
        <p:spPr>
          <a:xfrm>
            <a:off x="3319272" y="3493008"/>
            <a:ext cx="2606040" cy="256032"/>
          </a:xfrm>
          <a:prstGeom prst="rect">
            <a:avLst/>
          </a:prstGeom>
          <a:noFill/>
          <a:ln/>
        </p:spPr>
        <p:txBody>
          <a:bodyPr wrap="square" lIns="0" tIns="0" rIns="0" bIns="0" rtlCol="0" anchor="ctr"/>
          <a:lstStyle/>
          <a:p>
            <a:pPr marL="0" indent="0">
              <a:buNone/>
            </a:pPr>
            <a:r>
              <a:rPr lang="en-US" sz="1050" b="1" dirty="0">
                <a:solidFill>
                  <a:srgbClr val="2563EB"/>
                </a:solidFill>
                <a:latin typeface="Consolas" pitchFamily="34" charset="0"/>
                <a:ea typeface="Consolas" pitchFamily="34" charset="-122"/>
                <a:cs typeface="Consolas" pitchFamily="34" charset="-120"/>
              </a:rPr>
              <a:t>LivelockDetector</a:t>
            </a:r>
            <a:endParaRPr lang="en-US" sz="1050" dirty="0"/>
          </a:p>
        </p:txBody>
      </p:sp>
      <p:sp>
        <p:nvSpPr>
          <p:cNvPr id="17" name="Text 14"/>
          <p:cNvSpPr/>
          <p:nvPr/>
        </p:nvSpPr>
        <p:spPr>
          <a:xfrm>
            <a:off x="3319272" y="3785616"/>
            <a:ext cx="2569464" cy="841248"/>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Fires when total cycles stagnate for N polls AND at least one thread is RUNNABLE. Snapshot-diff alone would miss it.</a:t>
            </a:r>
            <a:endParaRPr lang="en-US" sz="1050" dirty="0"/>
          </a:p>
        </p:txBody>
      </p:sp>
      <p:sp>
        <p:nvSpPr>
          <p:cNvPr id="18" name="Text 15"/>
          <p:cNvSpPr/>
          <p:nvPr/>
        </p:nvSpPr>
        <p:spPr>
          <a:xfrm>
            <a:off x="3319272" y="4663440"/>
            <a:ext cx="2606040" cy="256032"/>
          </a:xfrm>
          <a:prstGeom prst="rect">
            <a:avLst/>
          </a:prstGeom>
          <a:noFill/>
          <a:ln/>
        </p:spPr>
        <p:txBody>
          <a:bodyPr wrap="square" lIns="0" tIns="0" rIns="0" bIns="0" rtlCol="0" anchor="ctr"/>
          <a:lstStyle/>
          <a:p>
            <a:pPr marL="0" indent="0">
              <a:buNone/>
            </a:pPr>
            <a:r>
              <a:rPr lang="en-US" sz="850" i="1" dirty="0">
                <a:solidFill>
                  <a:srgbClr val="64748B"/>
                </a:solidFill>
                <a:latin typeface="Consolas" pitchFamily="34" charset="0"/>
                <a:ea typeface="Consolas" pitchFamily="34" charset="-122"/>
                <a:cs typeface="Consolas" pitchFamily="34" charset="-120"/>
              </a:rPr>
              <a:t>0 cycles in 30 polls, active threads.</a:t>
            </a:r>
            <a:endParaRPr lang="en-US" sz="850" dirty="0"/>
          </a:p>
        </p:txBody>
      </p:sp>
      <p:sp>
        <p:nvSpPr>
          <p:cNvPr id="19" name="Shape 16"/>
          <p:cNvSpPr/>
          <p:nvPr/>
        </p:nvSpPr>
        <p:spPr>
          <a:xfrm>
            <a:off x="6071616" y="3401568"/>
            <a:ext cx="2807208" cy="160020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en-US"/>
          </a:p>
        </p:txBody>
      </p:sp>
      <p:sp>
        <p:nvSpPr>
          <p:cNvPr id="20" name="Shape 17"/>
          <p:cNvSpPr/>
          <p:nvPr/>
        </p:nvSpPr>
        <p:spPr>
          <a:xfrm>
            <a:off x="6071616" y="3401568"/>
            <a:ext cx="64008" cy="1600200"/>
          </a:xfrm>
          <a:prstGeom prst="rect">
            <a:avLst/>
          </a:prstGeom>
          <a:solidFill>
            <a:srgbClr val="DC2626"/>
          </a:solidFill>
          <a:ln w="12700">
            <a:solidFill>
              <a:srgbClr val="DC2626"/>
            </a:solidFill>
            <a:prstDash val="solid"/>
          </a:ln>
        </p:spPr>
        <p:txBody>
          <a:bodyPr/>
          <a:lstStyle/>
          <a:p>
            <a:endParaRPr lang="en-US"/>
          </a:p>
        </p:txBody>
      </p:sp>
      <p:sp>
        <p:nvSpPr>
          <p:cNvPr id="21" name="Text 18"/>
          <p:cNvSpPr/>
          <p:nvPr/>
        </p:nvSpPr>
        <p:spPr>
          <a:xfrm>
            <a:off x="6227064" y="3493008"/>
            <a:ext cx="2606040" cy="256032"/>
          </a:xfrm>
          <a:prstGeom prst="rect">
            <a:avLst/>
          </a:prstGeom>
          <a:noFill/>
          <a:ln/>
        </p:spPr>
        <p:txBody>
          <a:bodyPr wrap="square" lIns="0" tIns="0" rIns="0" bIns="0" rtlCol="0" anchor="ctr"/>
          <a:lstStyle/>
          <a:p>
            <a:pPr marL="0" indent="0">
              <a:buNone/>
            </a:pPr>
            <a:r>
              <a:rPr lang="en-US" sz="1050" b="1" dirty="0">
                <a:solidFill>
                  <a:srgbClr val="DC2626"/>
                </a:solidFill>
                <a:latin typeface="Consolas" pitchFamily="34" charset="0"/>
                <a:ea typeface="Consolas" pitchFamily="34" charset="-122"/>
                <a:cs typeface="Consolas" pitchFamily="34" charset="-120"/>
              </a:rPr>
              <a:t>DeadlockDetector</a:t>
            </a:r>
            <a:endParaRPr lang="en-US" sz="1050" dirty="0"/>
          </a:p>
        </p:txBody>
      </p:sp>
      <p:sp>
        <p:nvSpPr>
          <p:cNvPr id="22" name="Text 19"/>
          <p:cNvSpPr/>
          <p:nvPr/>
        </p:nvSpPr>
        <p:spPr>
          <a:xfrm>
            <a:off x="6227064" y="3785616"/>
            <a:ext cx="2569464" cy="841248"/>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ThreadMXBean.findDeadlockedThreads() + progress-stall check when all threads are BLOCKED/WAITING/TIMED_WAITING.</a:t>
            </a:r>
            <a:endParaRPr lang="en-US" sz="1050" dirty="0"/>
          </a:p>
        </p:txBody>
      </p:sp>
      <p:sp>
        <p:nvSpPr>
          <p:cNvPr id="23" name="Text 20"/>
          <p:cNvSpPr/>
          <p:nvPr/>
        </p:nvSpPr>
        <p:spPr>
          <a:xfrm>
            <a:off x="6227064" y="4663440"/>
            <a:ext cx="2606040" cy="256032"/>
          </a:xfrm>
          <a:prstGeom prst="rect">
            <a:avLst/>
          </a:prstGeom>
          <a:noFill/>
          <a:ln/>
        </p:spPr>
        <p:txBody>
          <a:bodyPr wrap="square" lIns="0" tIns="0" rIns="0" bIns="0" rtlCol="0" anchor="ctr"/>
          <a:lstStyle/>
          <a:p>
            <a:pPr marL="0" indent="0">
              <a:buNone/>
            </a:pPr>
            <a:r>
              <a:rPr lang="en-US" sz="850" i="1" dirty="0">
                <a:solidFill>
                  <a:srgbClr val="64748B"/>
                </a:solidFill>
                <a:latin typeface="Consolas" pitchFamily="34" charset="0"/>
                <a:ea typeface="Consolas" pitchFamily="34" charset="-122"/>
                <a:cs typeface="Consolas" pitchFamily="34" charset="-120"/>
              </a:rPr>
              <a:t>Circular wait on P0, P2, P4.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Metrics: Jain’s Fairness Index</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Quantifying how equitably chopstick access is distributed among philosophers</a:t>
            </a:r>
            <a:endParaRPr lang="en-US" sz="1150" dirty="0"/>
          </a:p>
        </p:txBody>
      </p:sp>
      <p:sp>
        <p:nvSpPr>
          <p:cNvPr id="5" name="Shape 3"/>
          <p:cNvSpPr/>
          <p:nvPr/>
        </p:nvSpPr>
        <p:spPr>
          <a:xfrm>
            <a:off x="274320" y="914400"/>
            <a:ext cx="8595360" cy="804672"/>
          </a:xfrm>
          <a:prstGeom prst="rect">
            <a:avLst/>
          </a:prstGeom>
          <a:solidFill>
            <a:srgbClr val="141A3C"/>
          </a:solidFill>
          <a:ln w="12700">
            <a:solidFill>
              <a:srgbClr val="1E2761"/>
            </a:solidFill>
            <a:prstDash val="solid"/>
          </a:ln>
        </p:spPr>
        <p:txBody>
          <a:bodyPr/>
          <a:lstStyle/>
          <a:p>
            <a:endParaRPr lang="en-US"/>
          </a:p>
        </p:txBody>
      </p:sp>
      <p:sp>
        <p:nvSpPr>
          <p:cNvPr id="6" name="Text 4"/>
          <p:cNvSpPr/>
          <p:nvPr/>
        </p:nvSpPr>
        <p:spPr>
          <a:xfrm>
            <a:off x="274320" y="914400"/>
            <a:ext cx="8595360" cy="804672"/>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  =  ( Σ eatingTimeᵢ )²  ÷  ( N × Σ eatingTimeᵢ² )</a:t>
            </a:r>
            <a:endParaRPr lang="en-US" sz="2600" dirty="0"/>
          </a:p>
        </p:txBody>
      </p:sp>
      <p:sp>
        <p:nvSpPr>
          <p:cNvPr id="7" name="Text 5"/>
          <p:cNvSpPr/>
          <p:nvPr/>
        </p:nvSpPr>
        <p:spPr>
          <a:xfrm>
            <a:off x="274320" y="1783080"/>
            <a:ext cx="859536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Why eating time?  A fair algorithm gives each philosopher equal chopstick access. Think-time is self-imposed; hungry-wait-time is a byproduct. totalEatingMs is the primary fairness variable.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74320" y="2212848"/>
          <a:ext cx="8595360" cy="2450592"/>
        </p:xfrm>
        <a:graphic>
          <a:graphicData uri="http://schemas.openxmlformats.org/drawingml/2006/table">
            <a:tbl>
              <a:tblPr/>
              <a:tblGrid>
                <a:gridCol w="1920240">
                  <a:extLst>
                    <a:ext uri="{9D8B030D-6E8A-4147-A177-3AD203B41FA5}">
                      <a16:colId xmlns:a16="http://schemas.microsoft.com/office/drawing/2014/main" val="20000"/>
                    </a:ext>
                  </a:extLst>
                </a:gridCol>
                <a:gridCol w="6675120">
                  <a:extLst>
                    <a:ext uri="{9D8B030D-6E8A-4147-A177-3AD203B41FA5}">
                      <a16:colId xmlns:a16="http://schemas.microsoft.com/office/drawing/2014/main" val="20001"/>
                    </a:ext>
                  </a:extLst>
                </a:gridCol>
              </a:tblGrid>
              <a:tr h="40843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 range</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Interpretation</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8432">
                <a:tc>
                  <a:txBody>
                    <a:bodyPr/>
                    <a:lstStyle/>
                    <a:p>
                      <a:pPr marL="0" indent="0">
                        <a:buNone/>
                      </a:pPr>
                      <a:r>
                        <a:rPr lang="en-US" sz="1250" b="1" dirty="0">
                          <a:solidFill>
                            <a:srgbClr val="059669"/>
                          </a:solidFill>
                          <a:latin typeface="Calibri" pitchFamily="34" charset="0"/>
                          <a:ea typeface="Calibri" pitchFamily="34" charset="-122"/>
                          <a:cs typeface="Calibri" pitchFamily="34" charset="-120"/>
                        </a:rPr>
                        <a:t>0.99 – 1.00</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Excellent fairness — all philosophers ate for essentially equal time</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extLst>
                  <a:ext uri="{0D108BD9-81ED-4DB2-BD59-A6C34878D82A}">
                    <a16:rowId xmlns:a16="http://schemas.microsoft.com/office/drawing/2014/main" val="10001"/>
                  </a:ext>
                </a:extLst>
              </a:tr>
              <a:tr h="408432">
                <a:tc>
                  <a:txBody>
                    <a:bodyPr/>
                    <a:lstStyle/>
                    <a:p>
                      <a:pPr marL="0" indent="0">
                        <a:buNone/>
                      </a:pPr>
                      <a:r>
                        <a:rPr lang="en-US" sz="1250" b="1" dirty="0">
                          <a:solidFill>
                            <a:srgbClr val="0D9488"/>
                          </a:solidFill>
                          <a:latin typeface="Calibri" pitchFamily="34" charset="0"/>
                          <a:ea typeface="Calibri" pitchFamily="34" charset="-122"/>
                          <a:cs typeface="Calibri" pitchFamily="34" charset="-120"/>
                        </a:rPr>
                        <a:t>0.95 – 0.99</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FFFFF"/>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Good; minor imbalance</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8432">
                <a:tc>
                  <a:txBody>
                    <a:bodyPr/>
                    <a:lstStyle/>
                    <a:p>
                      <a:pPr marL="0" indent="0">
                        <a:buNone/>
                      </a:pPr>
                      <a:r>
                        <a:rPr lang="en-US" sz="1250" b="1" dirty="0">
                          <a:solidFill>
                            <a:srgbClr val="D97706"/>
                          </a:solidFill>
                          <a:latin typeface="Calibri" pitchFamily="34" charset="0"/>
                          <a:ea typeface="Calibri" pitchFamily="34" charset="-122"/>
                          <a:cs typeface="Calibri" pitchFamily="34" charset="-120"/>
                        </a:rPr>
                        <a:t>0.90 – 0.95</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Moderate imbalance; one or more philosophers notably disadvantaged</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extLst>
                  <a:ext uri="{0D108BD9-81ED-4DB2-BD59-A6C34878D82A}">
                    <a16:rowId xmlns:a16="http://schemas.microsoft.com/office/drawing/2014/main" val="10003"/>
                  </a:ext>
                </a:extLst>
              </a:tr>
              <a:tr h="408432">
                <a:tc>
                  <a:txBody>
                    <a:bodyPr/>
                    <a:lstStyle/>
                    <a:p>
                      <a:pPr marL="0" indent="0">
                        <a:buNone/>
                      </a:pPr>
                      <a:r>
                        <a:rPr lang="en-US" sz="1250" b="1" dirty="0">
                          <a:solidFill>
                            <a:srgbClr val="DC2626"/>
                          </a:solidFill>
                          <a:latin typeface="Calibri" pitchFamily="34" charset="0"/>
                          <a:ea typeface="Calibri" pitchFamily="34" charset="-122"/>
                          <a:cs typeface="Calibri" pitchFamily="34" charset="-120"/>
                        </a:rPr>
                        <a:t>&lt; 0.90</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FFFFF"/>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Poor fairness; starvation likely present or imminent</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8432">
                <a:tc>
                  <a:txBody>
                    <a:bodyPr/>
                    <a:lstStyle/>
                    <a:p>
                      <a:pPr marL="0" indent="0">
                        <a:buNone/>
                      </a:pPr>
                      <a:r>
                        <a:rPr lang="en-US" sz="1250" b="1" dirty="0">
                          <a:solidFill>
                            <a:srgbClr val="DC2626"/>
                          </a:solidFill>
                          <a:latin typeface="Calibri" pitchFamily="34" charset="0"/>
                          <a:ea typeface="Calibri" pitchFamily="34" charset="-122"/>
                          <a:cs typeface="Calibri" pitchFamily="34" charset="-120"/>
                        </a:rPr>
                        <a:t>F = 1/N (e.g. 0.20 for N=5)</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One philosopher monopolized all eating time — worst case</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extLst>
                  <a:ext uri="{0D108BD9-81ED-4DB2-BD59-A6C34878D82A}">
                    <a16:rowId xmlns:a16="http://schemas.microsoft.com/office/drawing/2014/main" val="10005"/>
                  </a:ext>
                </a:extLst>
              </a:tr>
            </a:tbl>
          </a:graphicData>
        </a:graphic>
      </p:graphicFrame>
      <p:sp>
        <p:nvSpPr>
          <p:cNvPr id="8" name="Text 6"/>
          <p:cNvSpPr/>
          <p:nvPr/>
        </p:nvSpPr>
        <p:spPr>
          <a:xfrm>
            <a:off x="274320" y="4709160"/>
            <a:ext cx="8595360" cy="256032"/>
          </a:xfrm>
          <a:prstGeom prst="rect">
            <a:avLst/>
          </a:prstGeom>
          <a:noFill/>
          <a:ln/>
        </p:spPr>
        <p:txBody>
          <a:bodyPr wrap="square" lIns="0" tIns="0" rIns="0" bIns="0" rtlCol="0" anchor="ctr"/>
          <a:lstStyle/>
          <a:p>
            <a:pPr marL="0" indent="0" algn="ctr">
              <a:buNone/>
            </a:pPr>
            <a:r>
              <a:rPr lang="en-US" sz="1050" i="1" dirty="0">
                <a:solidFill>
                  <a:srgbClr val="64748B"/>
                </a:solidFill>
                <a:latin typeface="Calibri" pitchFamily="34" charset="0"/>
                <a:ea typeface="Calibri" pitchFamily="34" charset="-122"/>
                <a:cs typeface="Calibri" pitchFamily="34" charset="-120"/>
              </a:rPr>
              <a:t>Scale-independent: a fast and a slow solution can be directly compared. F ≥ 0.99 is achievable with solutions 3 and 4.</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41A3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73152"/>
            <a:ext cx="8412480" cy="411480"/>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Simulation Results at Scale</a:t>
            </a:r>
            <a:endParaRPr lang="en-US" sz="2100" dirty="0"/>
          </a:p>
        </p:txBody>
      </p:sp>
      <p:sp>
        <p:nvSpPr>
          <p:cNvPr id="4" name="Text 2"/>
          <p:cNvSpPr/>
          <p:nvPr/>
        </p:nvSpPr>
        <p:spPr>
          <a:xfrm>
            <a:off x="274320" y="556000"/>
            <a:ext cx="8595360" cy="110000"/>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Think + Eat ∈ [100 ms, 500 ms] · Starvation threshold T = max(10, ⌊leader × 20%⌋) · All four algorithms prevent deadlock</a:t>
            </a:r>
            <a:endParaRPr lang="en-US" sz="900" dirty="0"/>
          </a:p>
        </p:txBody>
      </p:sp>
      <p:graphicFrame>
        <p:nvGraphicFramePr>
          <p:cNvPr id="5" name="Table 3"/>
          <p:cNvGraphicFramePr>
            <a:graphicFrameLocks noGrp="1"/>
          </p:cNvGraphicFramePr>
          <p:nvPr/>
        </p:nvGraphicFramePr>
        <p:xfrm>
          <a:off x="274320" y="678000"/>
          <a:ext cx="8595360" cy="3700000"/>
        </p:xfrm>
        <a:graphic>
          <a:graphicData uri="http://schemas.openxmlformats.org/drawingml/2006/table">
            <a:tbl>
              <a:tblPr/>
              <a:tblGrid>
                <a:gridCol w="2195000">
                  <a:extLst>
                    <a:ext uri="{9D8B030D-6E8A-4147-A177-3AD203B41FA5}">
                      <a16:colId xmlns:a16="http://schemas.microsoft.com/office/drawing/2014/main" val="20000"/>
                    </a:ext>
                  </a:extLst>
                </a:gridCol>
                <a:gridCol w="2133453">
                  <a:extLst>
                    <a:ext uri="{9D8B030D-6E8A-4147-A177-3AD203B41FA5}">
                      <a16:colId xmlns:a16="http://schemas.microsoft.com/office/drawing/2014/main" val="20001"/>
                    </a:ext>
                  </a:extLst>
                </a:gridCol>
                <a:gridCol w="2133453">
                  <a:extLst>
                    <a:ext uri="{9D8B030D-6E8A-4147-A177-3AD203B41FA5}">
                      <a16:colId xmlns:a16="http://schemas.microsoft.com/office/drawing/2014/main" val="20002"/>
                    </a:ext>
                  </a:extLst>
                </a:gridCol>
                <a:gridCol w="2133454">
                  <a:extLst>
                    <a:ext uri="{9D8B030D-6E8A-4147-A177-3AD203B41FA5}">
                      <a16:colId xmlns:a16="http://schemas.microsoft.com/office/drawing/2014/main" val="20003"/>
                    </a:ext>
                  </a:extLst>
                </a:gridCol>
              </a:tblGrid>
              <a:tr h="38000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Algorithm</a:t>
                      </a:r>
                      <a:endParaRPr lang="en-US" sz="115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N=5 · 50 cycles</a:t>
                      </a:r>
                      <a:endParaRPr lang="en-US" sz="115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N=15 · 500 cycles</a:t>
                      </a:r>
                      <a:endParaRPr lang="en-US" sz="115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N=21 · 500 cycles</a:t>
                      </a:r>
                      <a:endParaRPr lang="en-US" sz="115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extLst>
                  <a:ext uri="{0D108BD9-81ED-4DB2-BD59-A6C34878D82A}">
                    <a16:rowId xmlns:a16="http://schemas.microsoft.com/office/drawing/2014/main" val="10000"/>
                  </a:ext>
                </a:extLst>
              </a:tr>
              <a:tr h="8300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Resource Hierarchy</a:t>
                      </a:r>
                      <a:endParaRPr lang="en-US" sz="11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00" b="1" dirty="0">
                          <a:solidFill>
                            <a:srgbClr val="FFB3B3"/>
                          </a:solidFill>
                          <a:latin typeface="Calibri" pitchFamily="34" charset="0"/>
                          <a:ea typeface="Calibri" pitchFamily="34" charset="-122"/>
                          <a:cs typeface="Calibri" pitchFamily="34" charset="-120"/>
                        </a:rPr>
                        <a:t>STARVATION · 37.5 s</a:t>
                      </a:r>
                      <a:endParaRPr lang="en-US" sz="1100" dirty="0"/>
                    </a:p>
                    <a:p>
                      <a:pPr marL="0" indent="0" algn="ctr">
                        <a:buNone/>
                      </a:pPr>
                      <a:r>
                        <a:rPr lang="en-US" sz="900" dirty="0">
                          <a:solidFill>
                            <a:srgbClr val="E08080"/>
                          </a:solidFill>
                          <a:latin typeface="Calibri" pitchFamily="34" charset="0"/>
                          <a:ea typeface="Calibri" pitchFamily="34" charset="-122"/>
                          <a:cs typeface="Calibri" pitchFamily="34" charset="-120"/>
                        </a:rPr>
                        <a:t>JFI 0.987 · 28%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4A1212"/>
                    </a:solidFill>
                  </a:tcPr>
                </a:tc>
                <a:tc>
                  <a:txBody>
                    <a:bodyPr/>
                    <a:lstStyle/>
                    <a:p>
                      <a:pPr marL="0" indent="0" algn="ctr">
                        <a:buNone/>
                      </a:pPr>
                      <a:r>
                        <a:rPr lang="en-US" sz="1100" b="1" dirty="0">
                          <a:solidFill>
                            <a:srgbClr val="FFB3B3"/>
                          </a:solidFill>
                          <a:latin typeface="Calibri" pitchFamily="34" charset="0"/>
                          <a:ea typeface="Calibri" pitchFamily="34" charset="-122"/>
                          <a:cs typeface="Calibri" pitchFamily="34" charset="-120"/>
                        </a:rPr>
                        <a:t>STARVATION · 27.6 s</a:t>
                      </a:r>
                      <a:endParaRPr lang="en-US" sz="1100" dirty="0"/>
                    </a:p>
                    <a:p>
                      <a:pPr marL="0" indent="0" algn="ctr">
                        <a:buNone/>
                      </a:pPr>
                      <a:r>
                        <a:rPr lang="en-US" sz="900" dirty="0">
                          <a:solidFill>
                            <a:srgbClr val="E08080"/>
                          </a:solidFill>
                          <a:latin typeface="Calibri" pitchFamily="34" charset="0"/>
                          <a:ea typeface="Calibri" pitchFamily="34" charset="-122"/>
                          <a:cs typeface="Calibri" pitchFamily="34" charset="-120"/>
                        </a:rPr>
                        <a:t>JFI 0.984 · 34%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4A1212"/>
                    </a:solidFill>
                  </a:tcPr>
                </a:tc>
                <a:tc>
                  <a:txBody>
                    <a:bodyPr/>
                    <a:lstStyle/>
                    <a:p>
                      <a:pPr marL="0" indent="0" algn="ctr">
                        <a:buNone/>
                      </a:pPr>
                      <a:r>
                        <a:rPr lang="en-US" sz="1100" b="1" dirty="0">
                          <a:solidFill>
                            <a:srgbClr val="FFB3B3"/>
                          </a:solidFill>
                          <a:latin typeface="Calibri" pitchFamily="34" charset="0"/>
                          <a:ea typeface="Calibri" pitchFamily="34" charset="-122"/>
                          <a:cs typeface="Calibri" pitchFamily="34" charset="-120"/>
                        </a:rPr>
                        <a:t>STARVATION · 32.0 s</a:t>
                      </a:r>
                      <a:endParaRPr lang="en-US" sz="1100" dirty="0"/>
                    </a:p>
                    <a:p>
                      <a:pPr marL="0" indent="0" algn="ctr">
                        <a:buNone/>
                      </a:pPr>
                      <a:r>
                        <a:rPr lang="en-US" sz="900" dirty="0">
                          <a:solidFill>
                            <a:srgbClr val="E08080"/>
                          </a:solidFill>
                          <a:latin typeface="Calibri" pitchFamily="34" charset="0"/>
                          <a:ea typeface="Calibri" pitchFamily="34" charset="-122"/>
                          <a:cs typeface="Calibri" pitchFamily="34" charset="-120"/>
                        </a:rPr>
                        <a:t>JFI 0.991 · 33%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4A1212"/>
                    </a:solidFill>
                  </a:tcPr>
                </a:tc>
                <a:extLst>
                  <a:ext uri="{0D108BD9-81ED-4DB2-BD59-A6C34878D82A}">
                    <a16:rowId xmlns:a16="http://schemas.microsoft.com/office/drawing/2014/main" val="10001"/>
                  </a:ext>
                </a:extLst>
              </a:tr>
              <a:tr h="8300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Arbitrator / Waiter</a:t>
                      </a:r>
                      <a:endParaRPr lang="en-US" sz="11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42.6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0.996 · 25%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419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0.9995 · 25%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415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0.9995 · 24%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extLst>
                  <a:ext uri="{0D108BD9-81ED-4DB2-BD59-A6C34878D82A}">
                    <a16:rowId xmlns:a16="http://schemas.microsoft.com/office/drawing/2014/main" val="10002"/>
                  </a:ext>
                </a:extLst>
              </a:tr>
              <a:tr h="8300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Chandy / Misra</a:t>
                      </a:r>
                      <a:endParaRPr lang="en-US" sz="11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50.8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0.9955 · 37%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469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0.9997 · 33%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~467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0.9997 · 33%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extLst>
                  <a:ext uri="{0D108BD9-81ED-4DB2-BD59-A6C34878D82A}">
                    <a16:rowId xmlns:a16="http://schemas.microsoft.com/office/drawing/2014/main" val="10003"/>
                  </a:ext>
                </a:extLst>
              </a:tr>
              <a:tr h="8300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Monitor / Conditions</a:t>
                      </a:r>
                      <a:endParaRPr lang="en-US" sz="11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42.7 s</a:t>
                      </a:r>
                      <a:endParaRPr lang="en-US" sz="1100" dirty="0"/>
                    </a:p>
                    <a:p>
                      <a:pPr marL="0" indent="0" algn="ctr">
                        <a:buNone/>
                      </a:pPr>
                      <a:r>
                        <a:rPr lang="en-US" sz="900" dirty="0">
                          <a:solidFill>
                            <a:srgbClr val="7FEBB8"/>
                          </a:solidFill>
                          <a:latin typeface="Calibri" pitchFamily="34" charset="0"/>
                          <a:ea typeface="Calibri" pitchFamily="34" charset="-122"/>
                          <a:cs typeface="Calibri" pitchFamily="34" charset="-120"/>
                        </a:rPr>
                        <a:t>JFI 0.989 · 24%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0A2B1E"/>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415 s</a:t>
                      </a:r>
                      <a:endParaRPr lang="en-US" sz="1100" dirty="0"/>
                    </a:p>
                    <a:p>
                      <a:pPr marL="0" indent="0" algn="ctr">
                        <a:buNone/>
                      </a:pPr>
                      <a:r>
                        <a:rPr lang="en-US" sz="900" dirty="0">
                          <a:solidFill>
                            <a:srgbClr val="7FEBB8"/>
                          </a:solidFill>
                          <a:latin typeface="Calibri" pitchFamily="34" charset="0"/>
                          <a:ea typeface="Calibri" pitchFamily="34" charset="-122"/>
                          <a:cs typeface="Calibri" pitchFamily="34" charset="-120"/>
                        </a:rPr>
                        <a:t>JFI 0.9996 · 25%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0A2B1E"/>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~414 s</a:t>
                      </a:r>
                      <a:endParaRPr lang="en-US" sz="1100" dirty="0"/>
                    </a:p>
                    <a:p>
                      <a:pPr marL="0" indent="0" algn="ctr">
                        <a:buNone/>
                      </a:pPr>
                      <a:r>
                        <a:rPr lang="en-US" sz="900" dirty="0">
                          <a:solidFill>
                            <a:srgbClr val="7FEBB8"/>
                          </a:solidFill>
                          <a:latin typeface="Calibri" pitchFamily="34" charset="0"/>
                          <a:ea typeface="Calibri" pitchFamily="34" charset="-122"/>
                          <a:cs typeface="Calibri" pitchFamily="34" charset="-120"/>
                        </a:rPr>
                        <a:t>JFI 0.9998 · 24%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0A2B1E"/>
                    </a:solidFill>
                  </a:tcPr>
                </a:tc>
                <a:extLst>
                  <a:ext uri="{0D108BD9-81ED-4DB2-BD59-A6C34878D82A}">
                    <a16:rowId xmlns:a16="http://schemas.microsoft.com/office/drawing/2014/main" val="10004"/>
                  </a:ext>
                </a:extLst>
              </a:tr>
            </a:tbl>
          </a:graphicData>
        </a:graphic>
      </p:graphicFrame>
      <p:sp>
        <p:nvSpPr>
          <p:cNvPr id="6" name="Shape 4"/>
          <p:cNvSpPr/>
          <p:nvPr/>
        </p:nvSpPr>
        <p:spPr>
          <a:xfrm>
            <a:off x="274320" y="4430000"/>
            <a:ext cx="8595360" cy="450000"/>
          </a:xfrm>
          <a:prstGeom prst="rect">
            <a:avLst/>
          </a:prstGeom>
          <a:solidFill>
            <a:srgbClr val="1E2761">
              <a:alpha val="40000"/>
            </a:srgbClr>
          </a:solidFill>
          <a:ln w="12700">
            <a:solidFill>
              <a:srgbClr val="2A3F6E"/>
            </a:solidFill>
            <a:prstDash val="solid"/>
          </a:ln>
        </p:spPr>
        <p:txBody>
          <a:bodyPr/>
          <a:lstStyle/>
          <a:p>
            <a:endParaRPr lang="en-US"/>
          </a:p>
        </p:txBody>
      </p:sp>
      <p:sp>
        <p:nvSpPr>
          <p:cNvPr id="7" name="Shape 5"/>
          <p:cNvSpPr/>
          <p:nvPr/>
        </p:nvSpPr>
        <p:spPr>
          <a:xfrm>
            <a:off x="347472" y="4536128"/>
            <a:ext cx="237744" cy="237744"/>
          </a:xfrm>
          <a:prstGeom prst="ellipse">
            <a:avLst/>
          </a:prstGeom>
          <a:solidFill>
            <a:srgbClr val="0D9488"/>
          </a:solidFill>
          <a:ln w="12700">
            <a:solidFill>
              <a:srgbClr val="0D9488"/>
            </a:solidFill>
            <a:prstDash val="solid"/>
          </a:ln>
        </p:spPr>
        <p:txBody>
          <a:bodyPr/>
          <a:lstStyle/>
          <a:p>
            <a:endParaRPr lang="en-US"/>
          </a:p>
        </p:txBody>
      </p:sp>
      <p:sp>
        <p:nvSpPr>
          <p:cNvPr id="8" name="Text 6"/>
          <p:cNvSpPr/>
          <p:nvPr/>
        </p:nvSpPr>
        <p:spPr>
          <a:xfrm>
            <a:off x="676656" y="4490000"/>
            <a:ext cx="8092440" cy="370000"/>
          </a:xfrm>
          <a:prstGeom prst="rect">
            <a:avLst/>
          </a:prstGeom>
          <a:noFill/>
          <a:ln/>
        </p:spPr>
        <p:txBody>
          <a:bodyPr wrap="square" lIns="0" tIns="0" rIns="0" bIns="0" rtlCol="0" anchor="ctr"/>
          <a:lstStyle/>
          <a:p>
            <a:pPr marL="0" indent="0">
              <a:buNone/>
            </a:pPr>
            <a:r>
              <a:rPr lang="en-US" sz="1100" b="1" dirty="0">
                <a:solidFill>
                  <a:srgbClr val="CADCFC"/>
                </a:solidFill>
                <a:latin typeface="Calibri" pitchFamily="34" charset="0"/>
                <a:ea typeface="Calibri" pitchFamily="34" charset="-122"/>
                <a:cs typeface="Calibri" pitchFamily="34" charset="-120"/>
              </a:rPr>
              <a:t>Monitor wins at every scale</a:t>
            </a:r>
            <a:r>
              <a:rPr lang="en-US" sz="1100" dirty="0">
                <a:solidFill>
                  <a:srgbClr val="A0B4D8"/>
                </a:solidFill>
                <a:latin typeface="Calibri" pitchFamily="34" charset="0"/>
                <a:ea typeface="Calibri" pitchFamily="34" charset="-122"/>
                <a:cs typeface="Calibri" pitchFamily="34" charset="-120"/>
              </a:rPr>
              <a:t> — starvation-free, lowest hungry-wait, fastest wall-clock at scale (N=15, 21), and JFI ≥ 0.989 across all runs.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41A3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73152"/>
            <a:ext cx="8412480" cy="411480"/>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Summary: Comparing the Four Solutions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658368"/>
          <a:ext cx="8595360" cy="2560320"/>
        </p:xfrm>
        <a:graphic>
          <a:graphicData uri="http://schemas.openxmlformats.org/drawingml/2006/table">
            <a:tbl>
              <a:tblPr/>
              <a:tblGrid>
                <a:gridCol w="21945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880360">
                  <a:extLst>
                    <a:ext uri="{9D8B030D-6E8A-4147-A177-3AD203B41FA5}">
                      <a16:colId xmlns:a16="http://schemas.microsoft.com/office/drawing/2014/main" val="20004"/>
                    </a:ext>
                  </a:extLst>
                </a:gridCol>
              </a:tblGrid>
              <a:tr h="512064">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Solution</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Deadlock</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Starvation</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Parallelism</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Java Primitive</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extLst>
                  <a:ext uri="{0D108BD9-81ED-4DB2-BD59-A6C34878D82A}">
                    <a16:rowId xmlns:a16="http://schemas.microsoft.com/office/drawing/2014/main" val="10000"/>
                  </a:ext>
                </a:extLst>
              </a:tr>
              <a:tr h="512064">
                <a:tc>
                  <a:txBody>
                    <a:bodyPr/>
                    <a:lstStyle/>
                    <a:p>
                      <a:pPr marL="0" indent="0">
                        <a:buNone/>
                      </a:pPr>
                      <a:r>
                        <a:rPr lang="en-US" sz="1300" b="1" dirty="0">
                          <a:solidFill>
                            <a:srgbClr val="CADCFC"/>
                          </a:solidFill>
                          <a:latin typeface="Calibri" pitchFamily="34" charset="0"/>
                          <a:ea typeface="Calibri" pitchFamily="34" charset="-122"/>
                          <a:cs typeface="Calibri" pitchFamily="34" charset="-120"/>
                        </a:rPr>
                        <a:t>1. Resource Hierarchy</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600" b="1" dirty="0">
                          <a:solidFill>
                            <a:srgbClr val="DC2626"/>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300" dirty="0">
                          <a:solidFill>
                            <a:srgbClr val="059669"/>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buNone/>
                      </a:pPr>
                      <a:r>
                        <a:rPr lang="en-US" sz="1300" dirty="0">
                          <a:solidFill>
                            <a:srgbClr val="CADCFC"/>
                          </a:solidFill>
                          <a:latin typeface="Calibri" pitchFamily="34" charset="0"/>
                          <a:ea typeface="Calibri" pitchFamily="34" charset="-122"/>
                          <a:cs typeface="Calibri" pitchFamily="34" charset="-120"/>
                        </a:rPr>
                        <a:t>ReentrantLock (ordered)</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extLst>
                  <a:ext uri="{0D108BD9-81ED-4DB2-BD59-A6C34878D82A}">
                    <a16:rowId xmlns:a16="http://schemas.microsoft.com/office/drawing/2014/main" val="10001"/>
                  </a:ext>
                </a:extLst>
              </a:tr>
              <a:tr h="512064">
                <a:tc>
                  <a:txBody>
                    <a:bodyPr/>
                    <a:lstStyle/>
                    <a:p>
                      <a:pPr marL="0" indent="0">
                        <a:buNone/>
                      </a:pPr>
                      <a:r>
                        <a:rPr lang="en-US" sz="1300" b="1" dirty="0">
                          <a:solidFill>
                            <a:srgbClr val="CADCFC"/>
                          </a:solidFill>
                          <a:latin typeface="Calibri" pitchFamily="34" charset="0"/>
                          <a:ea typeface="Calibri" pitchFamily="34" charset="-122"/>
                          <a:cs typeface="Calibri" pitchFamily="34" charset="-120"/>
                        </a:rPr>
                        <a:t>2. Arbitrator / Waiter</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600" b="1" dirty="0">
                          <a:solidFill>
                            <a:srgbClr val="DC2626"/>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300" dirty="0">
                          <a:solidFill>
                            <a:srgbClr val="D97706"/>
                          </a:solidFill>
                          <a:latin typeface="Calibri" pitchFamily="34" charset="0"/>
                          <a:ea typeface="Calibri" pitchFamily="34" charset="-122"/>
                          <a:cs typeface="Calibri" pitchFamily="34" charset="-120"/>
                        </a:rPr>
                        <a:t>⌊N/2⌋</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buNone/>
                      </a:pPr>
                      <a:r>
                        <a:rPr lang="en-US" sz="1300" dirty="0">
                          <a:solidFill>
                            <a:srgbClr val="CADCFC"/>
                          </a:solidFill>
                          <a:latin typeface="Calibri" pitchFamily="34" charset="0"/>
                          <a:ea typeface="Calibri" pitchFamily="34" charset="-122"/>
                          <a:cs typeface="Calibri" pitchFamily="34" charset="-120"/>
                        </a:rPr>
                        <a:t>synchronized + wait/notifyAll</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extLst>
                  <a:ext uri="{0D108BD9-81ED-4DB2-BD59-A6C34878D82A}">
                    <a16:rowId xmlns:a16="http://schemas.microsoft.com/office/drawing/2014/main" val="10002"/>
                  </a:ext>
                </a:extLst>
              </a:tr>
              <a:tr h="512064">
                <a:tc>
                  <a:txBody>
                    <a:bodyPr/>
                    <a:lstStyle/>
                    <a:p>
                      <a:pPr marL="0" indent="0">
                        <a:buNone/>
                      </a:pPr>
                      <a:r>
                        <a:rPr lang="en-US" sz="1300" b="1" dirty="0">
                          <a:solidFill>
                            <a:srgbClr val="CADCFC"/>
                          </a:solidFill>
                          <a:latin typeface="Calibri" pitchFamily="34" charset="0"/>
                          <a:ea typeface="Calibri" pitchFamily="34" charset="-122"/>
                          <a:cs typeface="Calibri" pitchFamily="34" charset="-120"/>
                        </a:rPr>
                        <a:t>3. Chandy / Misra</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300" dirty="0">
                          <a:solidFill>
                            <a:srgbClr val="059669"/>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buNone/>
                      </a:pPr>
                      <a:r>
                        <a:rPr lang="en-US" sz="1300" dirty="0">
                          <a:solidFill>
                            <a:srgbClr val="CADCFC"/>
                          </a:solidFill>
                          <a:latin typeface="Calibri" pitchFamily="34" charset="0"/>
                          <a:ea typeface="Calibri" pitchFamily="34" charset="-122"/>
                          <a:cs typeface="Calibri" pitchFamily="34" charset="-120"/>
                        </a:rPr>
                        <a:t>LinkedBlockingQueue</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extLst>
                  <a:ext uri="{0D108BD9-81ED-4DB2-BD59-A6C34878D82A}">
                    <a16:rowId xmlns:a16="http://schemas.microsoft.com/office/drawing/2014/main" val="10003"/>
                  </a:ext>
                </a:extLst>
              </a:tr>
              <a:tr h="512064">
                <a:tc>
                  <a:txBody>
                    <a:bodyPr/>
                    <a:lstStyle/>
                    <a:p>
                      <a:pPr marL="0" indent="0">
                        <a:buNone/>
                      </a:pPr>
                      <a:r>
                        <a:rPr lang="en-US" sz="1300" b="1" dirty="0">
                          <a:solidFill>
                            <a:srgbClr val="CADCFC"/>
                          </a:solidFill>
                          <a:latin typeface="Calibri" pitchFamily="34" charset="0"/>
                          <a:ea typeface="Calibri" pitchFamily="34" charset="-122"/>
                          <a:cs typeface="Calibri" pitchFamily="34" charset="-120"/>
                        </a:rPr>
                        <a:t>4. Monitor / Conditions</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300" dirty="0">
                          <a:solidFill>
                            <a:srgbClr val="059669"/>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buNone/>
                      </a:pPr>
                      <a:r>
                        <a:rPr lang="en-US" sz="1300" dirty="0">
                          <a:solidFill>
                            <a:srgbClr val="CADCFC"/>
                          </a:solidFill>
                          <a:latin typeface="Calibri" pitchFamily="34" charset="0"/>
                          <a:ea typeface="Calibri" pitchFamily="34" charset="-122"/>
                          <a:cs typeface="Calibri" pitchFamily="34" charset="-120"/>
                        </a:rPr>
                        <a:t>ReentrantLock + Condition</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extLst>
                  <a:ext uri="{0D108BD9-81ED-4DB2-BD59-A6C34878D82A}">
                    <a16:rowId xmlns:a16="http://schemas.microsoft.com/office/drawing/2014/main" val="10004"/>
                  </a:ext>
                </a:extLst>
              </a:tr>
            </a:tbl>
          </a:graphicData>
        </a:graphic>
      </p:graphicFrame>
      <p:sp>
        <p:nvSpPr>
          <p:cNvPr id="5" name="Shape 2"/>
          <p:cNvSpPr/>
          <p:nvPr/>
        </p:nvSpPr>
        <p:spPr>
          <a:xfrm>
            <a:off x="274320" y="3355848"/>
            <a:ext cx="8595360" cy="420624"/>
          </a:xfrm>
          <a:prstGeom prst="rect">
            <a:avLst/>
          </a:prstGeom>
          <a:solidFill>
            <a:srgbClr val="1E2761">
              <a:alpha val="40000"/>
            </a:srgbClr>
          </a:solidFill>
          <a:ln w="12700">
            <a:solidFill>
              <a:srgbClr val="2A3F6E"/>
            </a:solidFill>
            <a:prstDash val="solid"/>
          </a:ln>
        </p:spPr>
        <p:txBody>
          <a:bodyPr/>
          <a:lstStyle/>
          <a:p>
            <a:endParaRPr lang="en-US"/>
          </a:p>
        </p:txBody>
      </p:sp>
      <p:sp>
        <p:nvSpPr>
          <p:cNvPr id="6" name="Shape 3"/>
          <p:cNvSpPr/>
          <p:nvPr/>
        </p:nvSpPr>
        <p:spPr>
          <a:xfrm>
            <a:off x="347472" y="3438144"/>
            <a:ext cx="237744" cy="237744"/>
          </a:xfrm>
          <a:prstGeom prst="ellipse">
            <a:avLst/>
          </a:prstGeom>
          <a:solidFill>
            <a:srgbClr val="0D9488"/>
          </a:solidFill>
          <a:ln w="12700">
            <a:solidFill>
              <a:srgbClr val="0D9488"/>
            </a:solidFill>
            <a:prstDash val="solid"/>
          </a:ln>
        </p:spPr>
        <p:txBody>
          <a:bodyPr/>
          <a:lstStyle/>
          <a:p>
            <a:endParaRPr lang="en-US"/>
          </a:p>
        </p:txBody>
      </p:sp>
      <p:sp>
        <p:nvSpPr>
          <p:cNvPr id="7" name="Text 4"/>
          <p:cNvSpPr/>
          <p:nvPr/>
        </p:nvSpPr>
        <p:spPr>
          <a:xfrm>
            <a:off x="676656" y="3392424"/>
            <a:ext cx="8092440" cy="347472"/>
          </a:xfrm>
          <a:prstGeom prst="rect">
            <a:avLst/>
          </a:prstGeom>
          <a:noFill/>
          <a:ln/>
        </p:spPr>
        <p:txBody>
          <a:bodyPr wrap="square" lIns="0" tIns="0" rIns="0" bIns="0" rtlCol="0" anchor="ctr"/>
          <a:lstStyle/>
          <a:p>
            <a:pPr marL="0" indent="0">
              <a:buNone/>
            </a:pPr>
            <a:r>
              <a:rPr lang="en-US" sz="1150" b="1" dirty="0">
                <a:solidFill>
                  <a:srgbClr val="CADCFC"/>
                </a:solidFill>
                <a:latin typeface="Calibri" pitchFamily="34" charset="0"/>
                <a:ea typeface="Calibri" pitchFamily="34" charset="-122"/>
                <a:cs typeface="Calibri" pitchFamily="34" charset="-120"/>
              </a:rPr>
              <a:t>All four approaches eliminate deadlock</a:t>
            </a:r>
            <a:r>
              <a:rPr lang="en-US" sz="1150" dirty="0">
                <a:solidFill>
                  <a:srgbClr val="A0B4D8"/>
                </a:solidFill>
                <a:latin typeface="Calibri" pitchFamily="34" charset="0"/>
                <a:ea typeface="Calibri" pitchFamily="34" charset="-122"/>
                <a:cs typeface="Calibri" pitchFamily="34" charset="-120"/>
              </a:rPr>
              <a:t> — but only Chandy/Misra and Monitor guarantee starvation-freedom.</a:t>
            </a:r>
            <a:endParaRPr lang="en-US" sz="1150" dirty="0"/>
          </a:p>
        </p:txBody>
      </p:sp>
      <p:sp>
        <p:nvSpPr>
          <p:cNvPr id="8" name="Shape 5"/>
          <p:cNvSpPr/>
          <p:nvPr/>
        </p:nvSpPr>
        <p:spPr>
          <a:xfrm>
            <a:off x="274320" y="3867912"/>
            <a:ext cx="8595360" cy="420624"/>
          </a:xfrm>
          <a:prstGeom prst="rect">
            <a:avLst/>
          </a:prstGeom>
          <a:solidFill>
            <a:srgbClr val="1E2761">
              <a:alpha val="40000"/>
            </a:srgbClr>
          </a:solidFill>
          <a:ln w="12700">
            <a:solidFill>
              <a:srgbClr val="2A3F6E"/>
            </a:solidFill>
            <a:prstDash val="solid"/>
          </a:ln>
        </p:spPr>
        <p:txBody>
          <a:bodyPr/>
          <a:lstStyle/>
          <a:p>
            <a:endParaRPr lang="en-US"/>
          </a:p>
        </p:txBody>
      </p:sp>
      <p:sp>
        <p:nvSpPr>
          <p:cNvPr id="9" name="Shape 6"/>
          <p:cNvSpPr/>
          <p:nvPr/>
        </p:nvSpPr>
        <p:spPr>
          <a:xfrm>
            <a:off x="347472" y="3950208"/>
            <a:ext cx="237744" cy="237744"/>
          </a:xfrm>
          <a:prstGeom prst="ellipse">
            <a:avLst/>
          </a:prstGeom>
          <a:solidFill>
            <a:srgbClr val="0D9488"/>
          </a:solidFill>
          <a:ln w="12700">
            <a:solidFill>
              <a:srgbClr val="0D9488"/>
            </a:solidFill>
            <a:prstDash val="solid"/>
          </a:ln>
        </p:spPr>
        <p:txBody>
          <a:bodyPr/>
          <a:lstStyle/>
          <a:p>
            <a:endParaRPr lang="en-US"/>
          </a:p>
        </p:txBody>
      </p:sp>
      <p:sp>
        <p:nvSpPr>
          <p:cNvPr id="4" name="Text 7"/>
          <p:cNvSpPr/>
          <p:nvPr/>
        </p:nvSpPr>
        <p:spPr>
          <a:xfrm>
            <a:off x="676656" y="3904488"/>
            <a:ext cx="8092440" cy="347472"/>
          </a:xfrm>
          <a:prstGeom prst="rect">
            <a:avLst/>
          </a:prstGeom>
          <a:noFill/>
          <a:ln/>
        </p:spPr>
        <p:txBody>
          <a:bodyPr wrap="square" lIns="0" tIns="0" rIns="0" bIns="0" rtlCol="0" anchor="ctr"/>
          <a:lstStyle/>
          <a:p>
            <a:pPr marL="0" indent="0">
              <a:buNone/>
            </a:pPr>
            <a:r>
              <a:rPr lang="en-US" sz="1150" b="1" dirty="0">
                <a:solidFill>
                  <a:srgbClr val="CADCFC"/>
                </a:solidFill>
                <a:latin typeface="Calibri" pitchFamily="34" charset="0"/>
                <a:ea typeface="Calibri" pitchFamily="34" charset="-122"/>
                <a:cs typeface="Calibri" pitchFamily="34" charset="-120"/>
              </a:rPr>
              <a:t>Monitor (Solution 4) is the most idiomatic Java fit</a:t>
            </a:r>
            <a:r>
              <a:rPr lang="en-US" sz="1150" dirty="0">
                <a:solidFill>
                  <a:srgbClr val="A0B4D8"/>
                </a:solidFill>
                <a:latin typeface="Calibri" pitchFamily="34" charset="0"/>
                <a:ea typeface="Calibri" pitchFamily="34" charset="-122"/>
                <a:cs typeface="Calibri" pitchFamily="34" charset="-120"/>
              </a:rPr>
              <a:t> — explicit Condition per philosopher enables targeted signal() instead of broadcast.</a:t>
            </a:r>
            <a:endParaRPr lang="en-US" sz="1150" dirty="0"/>
          </a:p>
        </p:txBody>
      </p:sp>
      <p:sp>
        <p:nvSpPr>
          <p:cNvPr id="11" name="Shape 8"/>
          <p:cNvSpPr/>
          <p:nvPr/>
        </p:nvSpPr>
        <p:spPr>
          <a:xfrm>
            <a:off x="274320" y="4379976"/>
            <a:ext cx="8595360" cy="420624"/>
          </a:xfrm>
          <a:prstGeom prst="rect">
            <a:avLst/>
          </a:prstGeom>
          <a:solidFill>
            <a:srgbClr val="1E2761">
              <a:alpha val="40000"/>
            </a:srgbClr>
          </a:solidFill>
          <a:ln w="12700">
            <a:solidFill>
              <a:srgbClr val="2A3F6E"/>
            </a:solidFill>
            <a:prstDash val="solid"/>
          </a:ln>
        </p:spPr>
        <p:txBody>
          <a:bodyPr/>
          <a:lstStyle/>
          <a:p>
            <a:endParaRPr lang="en-US"/>
          </a:p>
        </p:txBody>
      </p:sp>
      <p:sp>
        <p:nvSpPr>
          <p:cNvPr id="12" name="Shape 9"/>
          <p:cNvSpPr/>
          <p:nvPr/>
        </p:nvSpPr>
        <p:spPr>
          <a:xfrm>
            <a:off x="347472" y="4462272"/>
            <a:ext cx="237744" cy="237744"/>
          </a:xfrm>
          <a:prstGeom prst="ellipse">
            <a:avLst/>
          </a:prstGeom>
          <a:solidFill>
            <a:srgbClr val="0D9488"/>
          </a:solidFill>
          <a:ln w="12700">
            <a:solidFill>
              <a:srgbClr val="0D9488"/>
            </a:solidFill>
            <a:prstDash val="solid"/>
          </a:ln>
        </p:spPr>
        <p:txBody>
          <a:bodyPr/>
          <a:lstStyle/>
          <a:p>
            <a:endParaRPr lang="en-US"/>
          </a:p>
        </p:txBody>
      </p:sp>
      <p:sp>
        <p:nvSpPr>
          <p:cNvPr id="13" name="Text 10"/>
          <p:cNvSpPr/>
          <p:nvPr/>
        </p:nvSpPr>
        <p:spPr>
          <a:xfrm>
            <a:off x="676656" y="4416552"/>
            <a:ext cx="8092440" cy="347472"/>
          </a:xfrm>
          <a:prstGeom prst="rect">
            <a:avLst/>
          </a:prstGeom>
          <a:noFill/>
          <a:ln/>
        </p:spPr>
        <p:txBody>
          <a:bodyPr wrap="square" lIns="0" tIns="0" rIns="0" bIns="0" rtlCol="0" anchor="ctr"/>
          <a:lstStyle/>
          <a:p>
            <a:pPr marL="0" indent="0">
              <a:buNone/>
            </a:pPr>
            <a:r>
              <a:rPr lang="en-US" sz="1150" b="1" dirty="0">
                <a:solidFill>
                  <a:srgbClr val="CADCFC"/>
                </a:solidFill>
                <a:latin typeface="Calibri" pitchFamily="34" charset="0"/>
                <a:ea typeface="Calibri" pitchFamily="34" charset="-122"/>
                <a:cs typeface="Calibri" pitchFamily="34" charset="-120"/>
              </a:rPr>
              <a:t>Jain’s Fairness Index F ≥ 0.99</a:t>
            </a:r>
            <a:r>
              <a:rPr lang="en-US" sz="1150" dirty="0">
                <a:solidFill>
                  <a:srgbClr val="A0B4D8"/>
                </a:solidFill>
                <a:latin typeface="Calibri" pitchFamily="34" charset="0"/>
                <a:ea typeface="Calibri" pitchFamily="34" charset="-122"/>
                <a:cs typeface="Calibri" pitchFamily="34" charset="-120"/>
              </a:rPr>
              <a:t> is consistently achieved by Solutions 3 and 4 at all tested scales (N = 5, 15, 21).</a:t>
            </a:r>
            <a:endParaRPr lang="en-US" sz="1150" dirty="0"/>
          </a:p>
        </p:txBody>
      </p:sp>
      <p:sp>
        <p:nvSpPr>
          <p:cNvPr id="14" name="Text 11"/>
          <p:cNvSpPr/>
          <p:nvPr/>
        </p:nvSpPr>
        <p:spPr>
          <a:xfrm>
            <a:off x="7223760" y="4828032"/>
            <a:ext cx="1645920" cy="246888"/>
          </a:xfrm>
          <a:prstGeom prst="rect">
            <a:avLst/>
          </a:prstGeom>
          <a:noFill/>
          <a:ln/>
        </p:spPr>
        <p:txBody>
          <a:bodyPr wrap="square" lIns="0" tIns="0" rIns="0" bIns="0" rtlCol="0" anchor="ctr"/>
          <a:lstStyle/>
          <a:p>
            <a:pPr marL="0" indent="0" algn="r">
              <a:buNone/>
            </a:pPr>
            <a:r>
              <a:rPr lang="en-US" sz="1200" i="1" dirty="0">
                <a:solidFill>
                  <a:srgbClr val="64748B"/>
                </a:solidFill>
                <a:latin typeface="Calibri" pitchFamily="34" charset="0"/>
                <a:ea typeface="Calibri" pitchFamily="34" charset="-122"/>
                <a:cs typeface="Calibri" pitchFamily="34" charset="-120"/>
              </a:rPr>
              <a:t>Live Demo →</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1A3C"/>
        </a:solidFill>
        <a:effectLst/>
      </p:bgPr>
    </p:bg>
    <p:spTree>
      <p:nvGrpSpPr>
        <p:cNvPr id="1" name="">
          <a:extLst>
            <a:ext uri="{FF2B5EF4-FFF2-40B4-BE49-F238E27FC236}">
              <a16:creationId xmlns:a16="http://schemas.microsoft.com/office/drawing/2014/main" id="{AED368ED-FC8E-3702-E30C-58119A83959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DB8E2A9-0D01-FAC8-4E73-979EE525E33E}"/>
              </a:ext>
            </a:extLst>
          </p:cNvPr>
          <p:cNvSpPr/>
          <p:nvPr/>
        </p:nvSpPr>
        <p:spPr>
          <a:xfrm>
            <a:off x="0" y="0"/>
            <a:ext cx="9144000" cy="548640"/>
          </a:xfrm>
          <a:prstGeom prst="rect">
            <a:avLst/>
          </a:prstGeom>
          <a:solidFill>
            <a:srgbClr val="1E2761"/>
          </a:solidFill>
          <a:ln w="12700">
            <a:solidFill>
              <a:srgbClr val="1E2761"/>
            </a:solidFill>
            <a:prstDash val="solid"/>
          </a:ln>
        </p:spPr>
        <p:txBody>
          <a:bodyPr/>
          <a:lstStyle/>
          <a:p>
            <a:endParaRPr lang="en-US"/>
          </a:p>
        </p:txBody>
      </p:sp>
      <p:sp>
        <p:nvSpPr>
          <p:cNvPr id="3" name="Text 1">
            <a:extLst>
              <a:ext uri="{FF2B5EF4-FFF2-40B4-BE49-F238E27FC236}">
                <a16:creationId xmlns:a16="http://schemas.microsoft.com/office/drawing/2014/main" id="{D33EF553-C0C1-5710-42F7-CFF3D1FCA107}"/>
              </a:ext>
            </a:extLst>
          </p:cNvPr>
          <p:cNvSpPr/>
          <p:nvPr/>
        </p:nvSpPr>
        <p:spPr>
          <a:xfrm>
            <a:off x="347472" y="73152"/>
            <a:ext cx="8412480" cy="411480"/>
          </a:xfrm>
          <a:prstGeom prst="rect">
            <a:avLst/>
          </a:prstGeom>
          <a:noFill/>
          <a:ln/>
        </p:spPr>
        <p:txBody>
          <a:bodyPr wrap="square" lIns="0" tIns="0" rIns="0" bIns="0" rtlCol="0" anchor="ctr"/>
          <a:lstStyle/>
          <a:p>
            <a:pPr marL="0" indent="0">
              <a:buNone/>
            </a:pPr>
            <a:r>
              <a:rPr lang="en-US" sz="2100" b="1">
                <a:solidFill>
                  <a:srgbClr val="FFFFFF"/>
                </a:solidFill>
                <a:latin typeface="Calibri" pitchFamily="34" charset="0"/>
                <a:ea typeface="Calibri" pitchFamily="34" charset="-122"/>
                <a:cs typeface="Calibri" pitchFamily="34" charset="-120"/>
              </a:rPr>
              <a:t>References</a:t>
            </a:r>
            <a:endParaRPr lang="en-US" sz="2100"/>
          </a:p>
        </p:txBody>
      </p:sp>
      <p:sp>
        <p:nvSpPr>
          <p:cNvPr id="20" name="LeftCol">
            <a:extLst>
              <a:ext uri="{FF2B5EF4-FFF2-40B4-BE49-F238E27FC236}">
                <a16:creationId xmlns:a16="http://schemas.microsoft.com/office/drawing/2014/main" id="{B1A2C3D4-E5F6-7890-ABCD-EF1234567890}"/>
              </a:ext>
            </a:extLst>
          </p:cNvPr>
          <p:cNvSpPr txBox="1"/>
          <p:nvPr/>
        </p:nvSpPr>
        <p:spPr>
          <a:xfrm>
            <a:off x="274320" y="658368"/>
            <a:ext cx="4206240" cy="4480560"/>
          </a:xfrm>
          <a:prstGeom prst="rect">
            <a:avLst/>
          </a:prstGeom>
          <a:noFill/>
        </p:spPr>
        <p:txBody>
          <a:bodyPr wrap="square" lIns="91440" tIns="45720" rIns="91440" bIns="45720">
            <a:spAutoFit/>
          </a:bodyPr>
          <a:lstStyle/>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[1]  </a:t>
            </a:r>
            <a:r>
              <a:rPr lang="en-US" sz="1100" dirty="0">
                <a:solidFill>
                  <a:srgbClr val="CADCFC"/>
                </a:solidFill>
                <a:latin typeface="Calibri" pitchFamily="34" charset="0"/>
                <a:ea typeface="Calibri" pitchFamily="34" charset="-122"/>
                <a:cs typeface="Calibri" pitchFamily="34" charset="-120"/>
              </a:rPr>
              <a:t>“Dining philosophers problem,” Wikipedia, Jun. 24, 2021. </a:t>
            </a:r>
            <a:r>
              <a:rPr lang="en-US" sz="1100" u="none" dirty="0">
                <a:solidFill>
                  <a:srgbClr val="A0B4D8"/>
                </a:solidFill>
                <a:latin typeface="Calibri" pitchFamily="34" charset="0"/>
                <a:hlinkClick r:id="rId3">
                  <a:extLst>
                    <a:ext uri="{A12FA001-AC4F-418D-AE19-62706E023703}">
                      <ahyp:hlinkClr xmlns:ahyp="http://schemas.microsoft.com/office/drawing/2018/hyperlinkcolor" val="tx"/>
                    </a:ext>
                  </a:extLst>
                </a:hlinkClick>
              </a:rPr>
              <a:t>https://en.wikipedia.org/wiki/Dining_philosophers_problem</a:t>
            </a:r>
            <a:r>
              <a:rPr lang="en-US" sz="1100" dirty="0">
                <a:solidFill>
                  <a:srgbClr val="CADCFC"/>
                </a:solidFill>
                <a:latin typeface="Calibri" pitchFamily="34" charset="0"/>
              </a:rPr>
              <a:t> (accessed Apr. 02, 2026).</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[2]  </a:t>
            </a:r>
            <a:r>
              <a:rPr lang="en-US" sz="1100" dirty="0">
                <a:solidFill>
                  <a:srgbClr val="CADCFC"/>
                </a:solidFill>
                <a:latin typeface="Calibri" pitchFamily="34" charset="0"/>
                <a:ea typeface="Calibri" pitchFamily="34" charset="-122"/>
                <a:cs typeface="Calibri" pitchFamily="34" charset="-120"/>
              </a:rPr>
              <a:t>Hoare, C. A. R. (1978). Communicating sequential processes. </a:t>
            </a:r>
            <a:r>
              <a:rPr lang="en-US" sz="1100" i="1" dirty="0">
                <a:solidFill>
                  <a:srgbClr val="CADCFC"/>
                </a:solidFill>
                <a:latin typeface="Calibri" pitchFamily="34" charset="0"/>
              </a:rPr>
              <a:t>Communications of the ACM</a:t>
            </a:r>
            <a:r>
              <a:rPr lang="en-US" sz="1100" dirty="0">
                <a:solidFill>
                  <a:srgbClr val="CADCFC"/>
                </a:solidFill>
                <a:latin typeface="Calibri" pitchFamily="34" charset="0"/>
              </a:rPr>
              <a:t>, 21(8), 666–677. </a:t>
            </a:r>
            <a:r>
              <a:rPr lang="en-US" sz="1100" u="none" dirty="0">
                <a:solidFill>
                  <a:srgbClr val="A0B4D8"/>
                </a:solidFill>
                <a:latin typeface="Calibri" pitchFamily="34" charset="0"/>
                <a:hlinkClick r:id="rId4">
                  <a:extLst>
                    <a:ext uri="{A12FA001-AC4F-418D-AE19-62706E023703}">
                      <ahyp:hlinkClr xmlns:ahyp="http://schemas.microsoft.com/office/drawing/2018/hyperlinkcolor" val="tx"/>
                    </a:ext>
                  </a:extLst>
                </a:hlinkClick>
              </a:rPr>
              <a:t>https://doi.org/10.1145/359576.359585</a:t>
            </a:r>
            <a:r>
              <a:rPr lang="en-US" sz="1100" dirty="0">
                <a:solidFill>
                  <a:srgbClr val="CADCFC"/>
                </a:solidFill>
                <a:latin typeface="Calibri" pitchFamily="34" charset="0"/>
              </a:rPr>
              <a:t> (accessed Apr. 02, 2026).</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[3]  </a:t>
            </a:r>
            <a:r>
              <a:rPr lang="en-US" sz="1100" dirty="0">
                <a:solidFill>
                  <a:srgbClr val="CADCFC"/>
                </a:solidFill>
                <a:latin typeface="Calibri" pitchFamily="34" charset="0"/>
                <a:ea typeface="Calibri" pitchFamily="34" charset="-122"/>
                <a:cs typeface="Calibri" pitchFamily="34" charset="-120"/>
              </a:rPr>
              <a:t>E. Dijkstra, “Hierarchical </a:t>
            </a:r>
            <a:r>
              <a:rPr lang="en-US" sz="1100" dirty="0" err="1">
                <a:solidFill>
                  <a:srgbClr val="CADCFC"/>
                </a:solidFill>
                <a:latin typeface="Calibri" pitchFamily="34" charset="0"/>
                <a:ea typeface="Calibri" pitchFamily="34" charset="-122"/>
                <a:cs typeface="Calibri" pitchFamily="34" charset="-120"/>
              </a:rPr>
              <a:t>Ordening</a:t>
            </a:r>
            <a:r>
              <a:rPr lang="en-US" sz="1100" dirty="0">
                <a:solidFill>
                  <a:srgbClr val="CADCFC"/>
                </a:solidFill>
                <a:latin typeface="Calibri" pitchFamily="34" charset="0"/>
                <a:ea typeface="Calibri" pitchFamily="34" charset="-122"/>
                <a:cs typeface="Calibri" pitchFamily="34" charset="-120"/>
              </a:rPr>
              <a:t> of Sequential Processes,” University of Texas Computer Science Department, Jun. 1971. </a:t>
            </a:r>
            <a:r>
              <a:rPr lang="en-US" sz="1100" u="none" dirty="0">
                <a:solidFill>
                  <a:srgbClr val="A0B4D8"/>
                </a:solidFill>
                <a:latin typeface="Calibri" pitchFamily="34" charset="0"/>
                <a:hlinkClick r:id="rId5">
                  <a:extLst>
                    <a:ext uri="{A12FA001-AC4F-418D-AE19-62706E023703}">
                      <ahyp:hlinkClr xmlns:ahyp="http://schemas.microsoft.com/office/drawing/2018/hyperlinkcolor" val="tx"/>
                    </a:ext>
                  </a:extLst>
                </a:hlinkClick>
              </a:rPr>
              <a:t>https://www.cs.utexas.edu/~EWD/ewd03xx/EWD310.PDF</a:t>
            </a:r>
            <a:r>
              <a:rPr lang="en-US" sz="1100" dirty="0">
                <a:solidFill>
                  <a:srgbClr val="CADCFC"/>
                </a:solidFill>
                <a:latin typeface="Calibri" pitchFamily="34" charset="0"/>
              </a:rPr>
              <a:t> (accessed Apr. 02, 2026).</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[4]  </a:t>
            </a:r>
            <a:r>
              <a:rPr lang="en-US" sz="1100" dirty="0">
                <a:solidFill>
                  <a:srgbClr val="CADCFC"/>
                </a:solidFill>
                <a:latin typeface="Calibri" pitchFamily="34" charset="0"/>
                <a:ea typeface="Calibri" pitchFamily="34" charset="-122"/>
                <a:cs typeface="Calibri" pitchFamily="34" charset="-120"/>
              </a:rPr>
              <a:t>E. Dijkstra, “EWD 123 Cooperating sequential processes,” 1968. Accessed: Apr. 02, 2026. [Online]. Available: </a:t>
            </a:r>
            <a:r>
              <a:rPr lang="en-US" sz="1100" u="none" dirty="0">
                <a:solidFill>
                  <a:srgbClr val="A0B4D8"/>
                </a:solidFill>
                <a:latin typeface="Calibri" pitchFamily="34" charset="0"/>
                <a:hlinkClick r:id="rId6">
                  <a:extLst>
                    <a:ext uri="{A12FA001-AC4F-418D-AE19-62706E023703}">
                      <ahyp:hlinkClr xmlns:ahyp="http://schemas.microsoft.com/office/drawing/2018/hyperlinkcolor" val="tx"/>
                    </a:ext>
                  </a:extLst>
                </a:hlinkClick>
              </a:rPr>
              <a:t>https://harrymoreno.com/assets/greatPapersInCompSci/5.1_-_Cooperating_sequential_processes-Edsger_W._Dijkstra.pdf</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[5]  </a:t>
            </a:r>
            <a:r>
              <a:rPr lang="en-US" sz="1100" dirty="0">
                <a:solidFill>
                  <a:srgbClr val="CADCFC"/>
                </a:solidFill>
                <a:latin typeface="Calibri" pitchFamily="34" charset="0"/>
                <a:ea typeface="Calibri" pitchFamily="34" charset="-122"/>
                <a:cs typeface="Calibri" pitchFamily="34" charset="-120"/>
              </a:rPr>
              <a:t>Chandy, K. M., &amp; Misra, J. (1984). The drinking philosophers problem. </a:t>
            </a:r>
            <a:r>
              <a:rPr lang="en-US" sz="1100" i="1" dirty="0">
                <a:solidFill>
                  <a:srgbClr val="CADCFC"/>
                </a:solidFill>
                <a:latin typeface="Calibri" pitchFamily="34" charset="0"/>
              </a:rPr>
              <a:t>ACM Transactions on Programming Languages and Systems</a:t>
            </a:r>
            <a:r>
              <a:rPr lang="en-US" sz="1100" dirty="0">
                <a:solidFill>
                  <a:srgbClr val="CADCFC"/>
                </a:solidFill>
                <a:latin typeface="Calibri" pitchFamily="34" charset="0"/>
              </a:rPr>
              <a:t>, 6(4), 632–646. </a:t>
            </a:r>
            <a:r>
              <a:rPr lang="en-US" sz="1100" u="none" dirty="0">
                <a:solidFill>
                  <a:srgbClr val="A0B4D8"/>
                </a:solidFill>
                <a:latin typeface="Calibri" pitchFamily="34" charset="0"/>
                <a:hlinkClick r:id="rId7">
                  <a:extLst>
                    <a:ext uri="{A12FA001-AC4F-418D-AE19-62706E023703}">
                      <ahyp:hlinkClr xmlns:ahyp="http://schemas.microsoft.com/office/drawing/2018/hyperlinkcolor" val="tx"/>
                    </a:ext>
                  </a:extLst>
                </a:hlinkClick>
              </a:rPr>
              <a:t>https://doi.org/10.1145/1780.1804</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[6]  </a:t>
            </a:r>
            <a:r>
              <a:rPr lang="en-US" sz="1100" dirty="0">
                <a:solidFill>
                  <a:srgbClr val="CADCFC"/>
                </a:solidFill>
                <a:latin typeface="Calibri" pitchFamily="34" charset="0"/>
                <a:ea typeface="Calibri" pitchFamily="34" charset="-122"/>
                <a:cs typeface="Calibri" pitchFamily="34" charset="-120"/>
              </a:rPr>
              <a:t>Hoare, C. A. R. (1974). Monitors: An operating system structuring concept. </a:t>
            </a:r>
            <a:r>
              <a:rPr lang="en-US" sz="1100" i="1" dirty="0">
                <a:solidFill>
                  <a:srgbClr val="CADCFC"/>
                </a:solidFill>
                <a:latin typeface="Calibri" pitchFamily="34" charset="0"/>
              </a:rPr>
              <a:t>Communications of the ACM</a:t>
            </a:r>
            <a:r>
              <a:rPr lang="en-US" sz="1100" dirty="0">
                <a:solidFill>
                  <a:srgbClr val="CADCFC"/>
                </a:solidFill>
                <a:latin typeface="Calibri" pitchFamily="34" charset="0"/>
              </a:rPr>
              <a:t>, 17(10), 549–557.</a:t>
            </a:r>
          </a:p>
        </p:txBody>
      </p:sp>
      <p:sp>
        <p:nvSpPr>
          <p:cNvPr id="21" name="RightCol">
            <a:extLst>
              <a:ext uri="{FF2B5EF4-FFF2-40B4-BE49-F238E27FC236}">
                <a16:creationId xmlns:a16="http://schemas.microsoft.com/office/drawing/2014/main" id="{C2B3D4E5-F6A7-8901-BCDE-F12345678901}"/>
              </a:ext>
            </a:extLst>
          </p:cNvPr>
          <p:cNvSpPr txBox="1"/>
          <p:nvPr/>
        </p:nvSpPr>
        <p:spPr>
          <a:xfrm>
            <a:off x="4663440" y="658368"/>
            <a:ext cx="4206240" cy="4480560"/>
          </a:xfrm>
          <a:prstGeom prst="rect">
            <a:avLst/>
          </a:prstGeom>
          <a:noFill/>
        </p:spPr>
        <p:txBody>
          <a:bodyPr wrap="square" lIns="91440" tIns="45720" rIns="91440" bIns="45720">
            <a:spAutoFit/>
          </a:bodyPr>
          <a:lstStyle/>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[7]  </a:t>
            </a:r>
            <a:r>
              <a:rPr lang="en-US" sz="1100">
                <a:solidFill>
                  <a:srgbClr val="CADCFC"/>
                </a:solidFill>
                <a:latin typeface="Calibri" pitchFamily="34" charset="0"/>
                <a:ea typeface="Calibri" pitchFamily="34" charset="-122"/>
                <a:cs typeface="Calibri" pitchFamily="34" charset="-120"/>
              </a:rPr>
              <a:t>S. Krishnaprasad. (April 2003). Concurrent/Distributed programming illustrated using the dining philosophers problem. </a:t>
            </a:r>
            <a:r>
              <a:rPr lang="en-US" sz="1100" i="1">
                <a:solidFill>
                  <a:srgbClr val="CADCFC"/>
                </a:solidFill>
                <a:latin typeface="Calibri" pitchFamily="34" charset="0"/>
              </a:rPr>
              <a:t>J. Comput. Sci. Coll.</a:t>
            </a:r>
            <a:r>
              <a:rPr lang="en-US" sz="1100">
                <a:solidFill>
                  <a:srgbClr val="CADCFC"/>
                </a:solidFill>
                <a:latin typeface="Calibri" pitchFamily="34" charset="0"/>
              </a:rPr>
              <a:t>, 18(4), 104–110.</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[8]  </a:t>
            </a:r>
            <a:r>
              <a:rPr lang="en-US" sz="1100">
                <a:solidFill>
                  <a:srgbClr val="CADCFC"/>
                </a:solidFill>
                <a:latin typeface="Calibri" pitchFamily="34" charset="0"/>
                <a:ea typeface="Calibri" pitchFamily="34" charset="-122"/>
                <a:cs typeface="Calibri" pitchFamily="34" charset="-120"/>
              </a:rPr>
              <a:t>J. Rodleitne, “The Dining Philosophers Problem,” Diningphilosophers.eu, 2025. </a:t>
            </a:r>
            <a:r>
              <a:rPr lang="en-US" sz="1100" u="none">
                <a:solidFill>
                  <a:srgbClr val="A0B4D8"/>
                </a:solidFill>
                <a:latin typeface="Calibri" pitchFamily="34" charset="0"/>
                <a:hlinkClick r:id="rId8">
                  <a:extLst>
                    <a:ext uri="{A12FA001-AC4F-418D-AE19-62706E023703}">
                      <ahyp:hlinkClr xmlns:ahyp="http://schemas.microsoft.com/office/drawing/2018/hyperlinkcolor" val="tx"/>
                    </a:ext>
                  </a:extLst>
                </a:hlinkClick>
              </a:rPr>
              <a:t>https://diningphilosophers.eu/</a:t>
            </a:r>
            <a:r>
              <a:rPr lang="en-US" sz="1100">
                <a:solidFill>
                  <a:srgbClr val="CADCFC"/>
                </a:solidFill>
                <a:latin typeface="Calibri" pitchFamily="34" charset="0"/>
              </a:rPr>
              <a:t> (accessed Apr. 02, 2026).</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[9]  </a:t>
            </a:r>
            <a:r>
              <a:rPr lang="en-US" sz="1100">
                <a:solidFill>
                  <a:srgbClr val="CADCFC"/>
                </a:solidFill>
                <a:latin typeface="Calibri" pitchFamily="34" charset="0"/>
                <a:ea typeface="Calibri" pitchFamily="34" charset="-122"/>
                <a:cs typeface="Calibri" pitchFamily="34" charset="-120"/>
              </a:rPr>
              <a:t>A. Tanenbaum and H. Bos, “Modern Operating Systems, 4th Edition,” Pearson, New Jersey, 2015. Accessed: Apr. 02, 2026. [Online]. Available: </a:t>
            </a:r>
            <a:r>
              <a:rPr lang="en-US" sz="1100" u="none">
                <a:solidFill>
                  <a:srgbClr val="A0B4D8"/>
                </a:solidFill>
                <a:latin typeface="Calibri" pitchFamily="34" charset="0"/>
                <a:hlinkClick r:id="rId9">
                  <a:extLst>
                    <a:ext uri="{A12FA001-AC4F-418D-AE19-62706E023703}">
                      <ahyp:hlinkClr xmlns:ahyp="http://schemas.microsoft.com/office/drawing/2018/hyperlinkcolor" val="tx"/>
                    </a:ext>
                  </a:extLst>
                </a:hlinkClick>
              </a:rPr>
              <a:t>https://os.ecci.ucr.ac.cr/slides/Andrew-S.-Tanenbaum-Modern-Operating-Systems.pdf</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[10]  </a:t>
            </a:r>
            <a:r>
              <a:rPr lang="en-US" sz="1100">
                <a:solidFill>
                  <a:srgbClr val="CADCFC"/>
                </a:solidFill>
                <a:latin typeface="Calibri" pitchFamily="34" charset="0"/>
                <a:ea typeface="Calibri" pitchFamily="34" charset="-122"/>
                <a:cs typeface="Calibri" pitchFamily="34" charset="-120"/>
              </a:rPr>
              <a:t>R. Jain, A. Durresi, and G. Babic, “Throughput Fairness Index: An Explanation,” 1999. Accessed: Apr. 15, 2026. [Online]. Available: </a:t>
            </a:r>
            <a:r>
              <a:rPr lang="en-US" sz="1100" u="none">
                <a:solidFill>
                  <a:srgbClr val="A0B4D8"/>
                </a:solidFill>
                <a:latin typeface="Calibri" pitchFamily="34" charset="0"/>
                <a:hlinkClick r:id="rId10">
                  <a:extLst>
                    <a:ext uri="{A12FA001-AC4F-418D-AE19-62706E023703}">
                      <ahyp:hlinkClr xmlns:ahyp="http://schemas.microsoft.com/office/drawing/2018/hyperlinkcolor" val="tx"/>
                    </a:ext>
                  </a:extLst>
                </a:hlinkClick>
              </a:rPr>
              <a:t>https://www.cse.wustl.edu/~jain/atmf/ftp/af_fair.pdf</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[11]  </a:t>
            </a:r>
            <a:r>
              <a:rPr lang="en-US" sz="1100">
                <a:solidFill>
                  <a:srgbClr val="CADCFC"/>
                </a:solidFill>
                <a:latin typeface="Calibri" pitchFamily="34" charset="0"/>
                <a:ea typeface="Calibri" pitchFamily="34" charset="-122"/>
                <a:cs typeface="Calibri" pitchFamily="34" charset="-120"/>
              </a:rPr>
              <a:t>A. Silberschatz, P. B. Galvin, and G. Gagne, Operating System Concepts, 10th ed. Hoboken, NJ: Wiley, 2018. Accessed: Apr. 02, 2026. [Online]. Available: </a:t>
            </a:r>
            <a:r>
              <a:rPr lang="en-US" sz="1100" u="none">
                <a:solidFill>
                  <a:srgbClr val="A0B4D8"/>
                </a:solidFill>
                <a:latin typeface="Calibri" pitchFamily="34" charset="0"/>
                <a:hlinkClick r:id="rId11">
                  <a:extLst>
                    <a:ext uri="{A12FA001-AC4F-418D-AE19-62706E023703}">
                      <ahyp:hlinkClr xmlns:ahyp="http://schemas.microsoft.com/office/drawing/2018/hyperlinkcolor" val="tx"/>
                    </a:ext>
                  </a:extLst>
                </a:hlinkClick>
              </a:rPr>
              <a:t>https://os.ecci.ucr.ac.cr/slides/Abraham-Silberschatz-Operating-System-Concepts-10th-2018.pdf</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[12]  </a:t>
            </a:r>
            <a:r>
              <a:rPr lang="en-US" sz="1100">
                <a:solidFill>
                  <a:srgbClr val="CADCFC"/>
                </a:solidFill>
                <a:latin typeface="Calibri" pitchFamily="34" charset="0"/>
                <a:ea typeface="Calibri" pitchFamily="34" charset="-122"/>
                <a:cs typeface="Calibri" pitchFamily="34" charset="-120"/>
              </a:rPr>
              <a:t>B. Goetz, Java Concurrency in Practice. Upper Saddle River, NJ: Addison-Wesley, 2006.</a:t>
            </a:r>
          </a:p>
        </p:txBody>
      </p:sp>
    </p:spTree>
    <p:extLst>
      <p:ext uri="{BB962C8B-B14F-4D97-AF65-F5344CB8AC3E}">
        <p14:creationId xmlns:p14="http://schemas.microsoft.com/office/powerpoint/2010/main" val="12333095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2264</Words>
  <Application>Microsoft Office PowerPoint</Application>
  <PresentationFormat>On-screen Show (16:9)</PresentationFormat>
  <Paragraphs>226</Paragraphs>
  <Slides>11</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Dining Philosophers Problem — Four Concurrency Solutions in Java</dc:title>
  <dc:subject>PptxGenJS Presentation</dc:subject>
  <dc:creator>Vince Marinelli</dc:creator>
  <cp:lastModifiedBy>Vince Marinelli</cp:lastModifiedBy>
  <cp:revision>6</cp:revision>
  <dcterms:created xsi:type="dcterms:W3CDTF">2026-05-02T20:46:08Z</dcterms:created>
  <dcterms:modified xsi:type="dcterms:W3CDTF">2026-05-04T00:06:22Z</dcterms:modified>
</cp:coreProperties>
</file>