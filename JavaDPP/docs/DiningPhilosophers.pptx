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activity-monitor,png" ContentType="image/activity-monitor,pn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1E2761">
              <a:alpha val="55000"/>
            </a:srgbClr>
          </a:solidFill>
          <a:ln w="12700">
            <a:solidFill>
              <a:srgbClr val="1E276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3657600" cy="3657600"/>
          </a:xfrm>
          <a:prstGeom prst="ellipse">
            <a:avLst/>
          </a:prstGeom>
          <a:solidFill>
            <a:srgbClr val="1C3577">
              <a:alpha val="45000"/>
            </a:srgbClr>
          </a:solidFill>
          <a:ln w="12700">
            <a:solidFill>
              <a:srgbClr val="1C35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2487168"/>
            <a:ext cx="29260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Philosophers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Concurrency Solutions in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543  ·  Vince Marinelli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Philosophers Problem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posed by Dijkstra (1965); reformulated by C.A.R. Hoare — a classic model of resource contention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846320" cy="173736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87552"/>
            <a:ext cx="4526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eminent philosophers… To the left of each philosopher lay a golden fork, and in the centre stood a large bowl of spaghetti… a second fork is required to carry it to the mouth.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25968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C.A.R. Hoare, Communicating Sequential Processes (1978)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907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18211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chopstick between each adjacent pair (5 chopsticks total)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requires both left and right chopstick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chopstick can only be held by one philosopher at a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to prevent: Deadlock · Starvation · Livelock · Race Conditions</a:t>
            </a:r>
            <a:endParaRPr lang="en-US" sz="1200" dirty="0"/>
          </a:p>
        </p:txBody>
      </p:sp>
      <p:pic>
        <p:nvPicPr>
          <p:cNvPr id="10" name="Image 0" descr="drawio/images/philosopher-state-machine.drawio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804672"/>
            <a:ext cx="35661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1: Resource Hierarchy (Dijkstra)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acquire the lower-numbered chopstick first — breaks circular wait</a:t>
            </a:r>
            <a:endParaRPr lang="en-US" sz="1150" dirty="0"/>
          </a:p>
        </p:txBody>
      </p:sp>
      <p:pic>
        <p:nvPicPr>
          <p:cNvPr id="5" name="Image 0" descr="drawio/images/activity-resource-hierarchy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Chopsticks numbered 0 through N-1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Philosopher i acquires min(i, i+1%N) first, then max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circular-wait possible → no deadlock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is still possible — no fairness guarantee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@ThreadSafe · lock ordering prevents deadlock (§10.1)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Chopstick first  = chopsticks.get(Math.min(id, (id+1) % n));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Chopstick second = chopsticks.get(Math.max(id, (id+1) % n));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first.acquire();           // lockInterruptibly()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second.acquire();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transitionTo(EATING);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Thread.sleep(randomSleepMs());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finally { second.release();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 first.release(); 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2: Arbitrator / Waiter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Waiter serializes grants via synchronized + wait() / notifyAll()</a:t>
            </a:r>
            <a:endParaRPr lang="en-US" sz="1150" dirty="0"/>
          </a:p>
        </p:txBody>
      </p:sp>
      <p:pic>
        <p:nvPicPr>
          <p:cNvPr id="5" name="Image 0" descr="drawio/images/activity-arbitrator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Philosopher asks Waiter before picking up any chopstick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grants only when both adjacent chopsticks are free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threads call wait(); Waiter calls notifyAll() on release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⌊N/2⌋ philosophers eating simultaneously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@GuardedBy("this") · condition queue (§14.1)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@GuardedBy("this")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void requestChopsticks(int l, int 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(chopstickInUse[l] || chopstickInUse[r])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wait();             // block until notifyAll()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chopstickInUse[l] = chopstickInUse[r] = true;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void releaseChopsticks(int l, int 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chopstickInUse[l] = chopstickInUse[r]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notifyAll();          // wake all waiting threads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3: Chandy / Misra (Message Passing)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locks — all coordination through LinkedBlockingQueue inboxes</a:t>
            </a:r>
            <a:endParaRPr lang="en-US" sz="1150" dirty="0"/>
          </a:p>
        </p:txBody>
      </p:sp>
      <p:pic>
        <p:nvPicPr>
          <p:cNvPr id="5" name="Image 0" descr="drawio/images/activity-chandy-misra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chopstick is clean or dirty, owned by exactly one philosopher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dirty, held by the lower-numbered neighbor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+ requested while THINKING → clean and send immediately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or HUNGRY always defers — dirty fork is sent only when THINKING (starvation-free)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@Immutable Message · actor-style threading (§5.3)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Respond to fork requests while thinking or eating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sleepProcessing(int totalMs)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long deadline = System.currentTimeMillis() + totalMs;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while (System.currentTimeMillis() &lt; deadline &amp;&amp; !stopped.get())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Message msg = myInbox.poll(50, TimeUnit.MILLISECONDS);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(msg != null) processMessage(msg);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Give dirty fork to requester immediately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(dirty &amp;&amp; cur == THINKING)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holdsLeft[0] = false;  leftDirty[0]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leftInbox.put(new Message(MsgType.FORK, id));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 deferLeft[0] = true; }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4: Monitor / Condition Variables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ReentrantLock + one Condition per philosopher — most idiomatic Java</a:t>
            </a:r>
            <a:endParaRPr lang="en-US" sz="1150" dirty="0"/>
          </a:p>
        </p:txBody>
      </p:sp>
      <p:pic>
        <p:nvPicPr>
          <p:cNvPr id="5" name="Image 0" descr="drawio/images/activity-monitor,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3520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886968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886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79392" y="896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state[] array: THINKING, HUNGRY, or EATING per philosopher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14173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79392" y="1426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philosopher can only eat when both neighbors are not eating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1947672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9476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568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putDown() calls test() on both neighbors — targeted signal(), not broadcast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931920" y="2478024"/>
            <a:ext cx="265176" cy="2651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478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2487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lock guards all state; starvation-free through neighbor signaling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4892040" cy="384048"/>
          </a:xfrm>
          <a:prstGeom prst="rect">
            <a:avLst/>
          </a:prstGeom>
          <a:solidFill>
            <a:srgbClr val="CADCFC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9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JCIP: @GuardedBy("lock") · ReentrantLock + Condition (§14.3)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401568"/>
            <a:ext cx="4892040" cy="1664208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3493008"/>
            <a:ext cx="4654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@GuardedBy("lock")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test(int i)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(state[i]==HUNGRY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&amp;&amp; state[(i-1+n)%n]!=EATING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&amp;&amp; state[(i+1)%n]  !=EATING)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state[i]=EATING; self[i].signal();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pickUp(int i) throws InterruptedException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lock.lockInterruptibly();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state[i]=HUNGRY; test(i);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while (state[i]!=EATING) self[i].await();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 finally { lock.unlock();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Monitoring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knows only DiningRunner · three daemon monitors; first to fire wins via AtomicBoolean</a:t>
            </a:r>
            <a:endParaRPr lang="en-US" sz="1150" dirty="0"/>
          </a:p>
        </p:txBody>
      </p:sp>
      <p:pic>
        <p:nvPicPr>
          <p:cNvPr id="5" name="Image 0" descr="drawio/images/class-diagram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68680"/>
            <a:ext cx="484632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868680"/>
            <a:ext cx="3675888" cy="1188720"/>
          </a:xfrm>
          <a:prstGeom prst="rect">
            <a:avLst/>
          </a:prstGeom>
          <a:solidFill>
            <a:srgbClr val="1B2638"/>
          </a:solidFill>
          <a:ln w="12700">
            <a:solidFill>
              <a:srgbClr val="2D3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0952" y="960120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  Controller.java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       Philosopher · Chopstick · SimulationStats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solutions/   DiningRunner (iface) + 4 algorithms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monitor/     Starvation · Livelock · Deadlock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3310128"/>
            <a:ext cx="8631936" cy="0"/>
          </a:xfrm>
          <a:prstGeom prst="line">
            <a:avLst/>
          </a:prstGeom>
          <a:noFill/>
          <a:ln w="12700">
            <a:solidFill>
              <a:srgbClr val="D0D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3401568"/>
            <a:ext cx="64008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StarvationDetector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any philosopher falls behind the leader by more than T = max(10, ⌊leader × 20%⌋) cycles. Adaptive: threshold scales with run progress to prevent false positives at large 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is 11 cycles behind P0.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63824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63824" y="3401568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9272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LivelockDetector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19272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total cycles stagnate for N polls AND at least one thread is RUNNABLE. Snapshot-diff alone would miss it.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19272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cycles in 30 polls, active threads.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71616" y="3401568"/>
            <a:ext cx="280720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71616" y="3401568"/>
            <a:ext cx="64008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7064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DeadlockDetector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27064" y="378561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ThreadMXBean.findDeadlockedThreads() + progress-stall check when all threads are BLOCKED/WAITING/TIMED_WAITING.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27064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 wait on P0, P2, P4.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Jain’s Fairness Index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how equitably chopstick access is distributed among philosophers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solidFill>
            <a:srgbClr val="141A3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 ( Σ eatingTimeᵢ )²  ÷  ( N × Σ eatingTimeᵢ²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eating time?  A fair algorithm gives each philosopher equal chopstick access. Think-time is self-imposed; hungry-wait-time is a byproduct. totalEatingMs is the primary fairness variable.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12848"/>
          <a:ext cx="8595360" cy="2450592"/>
        </p:xfrm>
        <a:graphic>
          <a:graphicData uri="http://schemas.openxmlformats.org/drawingml/2006/table">
            <a:tbl>
              <a:tblPr/>
              <a:tblGrid>
                <a:gridCol w="1920240"/>
                <a:gridCol w="6675120"/>
              </a:tblGrid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–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fairness — all philosophers ate for essentially equal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– 0.99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minor imbalance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– 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imbalance; one or more philosophers notably disadvantaged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fairness; starvation likely present or imminent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1/N (e.g. 0.20 for N=5)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philosopher monopolized all eating time — 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Scale-independent: a fast and a slow solution can be directly compared. F ≥ 0.99 is achievable with solutions 3 and 4.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Comparing the Four Solutions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188720"/>
                <a:gridCol w="1234440"/>
                <a:gridCol w="28803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Primitive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Resource Hierarchy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ReentrantLock (ordered)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Arbitrator / Waiter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⌊N/2⌋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 + wait/notifyAll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Chandy / Misra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LinkedBlockingQueue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Monitor /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ReentrantLock +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6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55848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34381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3392424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approaches eliminate deadlock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but only Chandy/Misra and Monitor guarantee starvation-freedom.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3867912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395020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390448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(Solution 4) is the most idiomatic Java fit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explicit Condition per philosopher enables targeted signal() instead of broadcast.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4379976"/>
            <a:ext cx="8595360" cy="420624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" y="44622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441655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Jain’s Fairness Index F ≥ 0.99</a:t>
            </a:r>
            <a:pPr indent="0" marL="0">
              <a:buNone/>
            </a:pPr>
            <a:r>
              <a:rPr lang="en-US" sz="11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consistently achieved by Solutions 3 and 4 at all tested scales (N = 5, 15, 21).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223760" y="482803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at Scale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56000"/>
            <a:ext cx="859536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+ Eat ∈ [100 ms, 500 ms] · Starvation threshold T = max(10, ⌊leader × 20%⌋) · All four algorithms prevent deadlock</a:t>
            </a:r>
            <a:endParaRPr lang="en-US" sz="9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274320" y="678000"/>
          <a:ext cx="8595360" cy="3700000"/>
        </p:xfrm>
        <a:graphic>
          <a:graphicData uri="http://schemas.openxmlformats.org/drawingml/2006/table">
            <a:tbl>
              <a:tblPr/>
              <a:tblGrid>
                <a:gridCol w="2195000"/>
                <a:gridCol w="2133453"/>
                <a:gridCol w="2133453"/>
                <a:gridCol w="2133454"/>
              </a:tblGrid>
              <a:tr h="38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 · 50 cycles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N=15 · 500 cycles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N=21 · 500 cycles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</a:tr>
              <a:tr h="83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Hierarchy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 · 37.5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0.987 · 28%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 · 27.6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0.984 · 34%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 · 32.0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0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0.991 · 33%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2"/>
                    </a:solidFill>
                  </a:tcPr>
                </a:tc>
              </a:tr>
              <a:tr h="83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Arbitrator / Waiter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42.6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0.996 · 25%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419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0.9995 · 25%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415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0.9995 · 24%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83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Chandy / Misra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50.8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0.9955 · 37%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469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0.9997 · 33%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~467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0.9997 · 33%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83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/ Conditions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42.7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FE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0.989 · 24%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415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FE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0.9996 · 25%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~414 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FE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JFI 0.9998 · 24% hungry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1E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274320" y="4430000"/>
            <a:ext cx="8595360" cy="450000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453612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490000"/>
            <a:ext cx="809244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wins at every scale</a:t>
            </a: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starvation-free, lowest hungry-wait, fastest wall-clock at scale (N=15, 21), and JFI ≥ 0.989 across all runs.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Dining Philosophers Problem — Four Concurrency Solutions in Java</dc:title>
  <dc:subject>PptxGenJS Presentation</dc:subject>
  <dc:creator>Vince Marinelli</dc:creator>
  <cp:lastModifiedBy>Vince Marinelli</cp:lastModifiedBy>
  <cp:revision>1</cp:revision>
  <dcterms:created xsi:type="dcterms:W3CDTF">2026-05-02T20:46:08Z</dcterms:created>
  <dcterms:modified xsi:type="dcterms:W3CDTF">2026-05-02T20:46:08Z</dcterms:modified>
</cp:coreProperties>
</file>